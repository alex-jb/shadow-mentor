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CAPSTONE IN COMPUTER SCIENCE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800" b="1">
                <a:solidFill>
                  <a:srgbClr val="F2F5F7"/>
                </a:solidFill>
                <a:latin typeface="Arial"/>
              </a:rPr>
              <a:t>Shadow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F2F5F7"/>
                </a:solidFill>
                <a:latin typeface="Arial"/>
              </a:rPr>
              <a:t>A Cryptographically Verifiable Evidence and Spatial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F2F5F7"/>
                </a:solidFill>
                <a:latin typeface="Arial"/>
              </a:rPr>
              <a:t>Audit System for AI-Assisted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611880"/>
            <a:ext cx="164592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673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5CA8FF"/>
                </a:solidFill>
                <a:latin typeface="Arial"/>
              </a:rPr>
              <a:t>From AI answers to independently verifiable decision evidence.</a:t>
            </a:r>
          </a:p>
        </p:txBody>
      </p:sp>
      <p:pic>
        <p:nvPicPr>
          <p:cNvPr id="9" name="Picture 8" descr="s1-arc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0"/>
            <a:ext cx="8778240" cy="186512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" y="4297680"/>
            <a:ext cx="8778240" cy="1865122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236208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8A94A0"/>
                </a:solidFill>
                <a:latin typeface="Arial"/>
              </a:rPr>
              <a:t>Real render — Shadow 3D audit arc · research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4343400"/>
            <a:ext cx="2194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F2F5F7"/>
                </a:solidFill>
                <a:latin typeface="Arial"/>
              </a:rPr>
              <a:t>Alex Ji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M.S. Computer Science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Yeshiva University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F2F5F7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8A94A0"/>
                </a:solidFill>
                <a:latin typeface="Arial"/>
              </a:rPr>
              <a:t>Practice presentation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8A94A0"/>
                </a:solidFill>
                <a:latin typeface="Arial"/>
              </a:rPr>
              <a:t>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THE TRUST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An answer is not an evidence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83280" cy="1463040"/>
          </a:xfrm>
          <a:prstGeom prst="roundRect">
            <a:avLst>
              <a:gd name="adj" fmla="val 12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9DA9B5"/>
                </a:solidFill>
                <a:latin typeface="Arial"/>
              </a:rPr>
              <a:t>AI ANSWER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F2F5F7"/>
                </a:solidFill>
                <a:latin typeface="Arial"/>
              </a:rPr>
              <a:t>“Approve the loan.”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8A94A0"/>
                </a:solidFill>
                <a:latin typeface="Arial"/>
              </a:rPr>
              <a:t>fluent · unverifiable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103120"/>
            <a:ext cx="914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5000" b="1">
                <a:solidFill>
                  <a:srgbClr val="FF5F6D"/>
                </a:solidFill>
                <a:latin typeface="Arial"/>
              </a:rPr>
              <a:t>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103120"/>
            <a:ext cx="5943600" cy="1463040"/>
          </a:xfrm>
          <a:prstGeom prst="roundRect">
            <a:avLst>
              <a:gd name="adj" fmla="val 12000"/>
            </a:avLst>
          </a:prstGeom>
          <a:solidFill>
            <a:srgbClr val="111820"/>
          </a:solidFill>
          <a:ln w="15875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2286000"/>
            <a:ext cx="5577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FD19A"/>
                </a:solidFill>
                <a:latin typeface="Arial"/>
              </a:rPr>
              <a:t>EVIDENCE RECORD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source → tool action → sequence → signature → verifier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8A94A0"/>
                </a:solidFill>
                <a:latin typeface="Arial"/>
              </a:rPr>
              <a:t>structured · signed · independently checkable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SOURCE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What did it rely 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ACTION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What did it do?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INTEGRITY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Was it changed after?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160520"/>
            <a:ext cx="411480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42976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5CA8FF"/>
                </a:solidFill>
                <a:latin typeface="Arial"/>
              </a:rPr>
              <a:t>INDEPENDENCE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Can someone else verify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Ordinary logs are mutable and platform-specific; a model’s explanation is generated prose, not a record.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PROJECT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From more opinions to verifiable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109728" cy="9601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3108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5CA8FF"/>
                </a:solidFill>
                <a:latin typeface="Arial"/>
              </a:rPr>
              <a:t>ORALLEXA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6858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2F5F7"/>
                </a:solidFill>
                <a:latin typeface="Arial"/>
              </a:rPr>
              <a:t>Multiple AI perspectives debate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80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8A94A0"/>
                </a:solidFill>
                <a:latin typeface="Arial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10128"/>
            <a:ext cx="109728" cy="96012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10128"/>
            <a:ext cx="3108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F2C14E"/>
                </a:solidFill>
                <a:latin typeface="Arial"/>
              </a:rPr>
              <a:t>THE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10128"/>
            <a:ext cx="6858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2F5F7"/>
                </a:solidFill>
                <a:latin typeface="Arial"/>
              </a:rPr>
              <a:t>More voices do not create verifiability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7880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8A94A0"/>
                </a:solidFill>
                <a:latin typeface="Arial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08576"/>
            <a:ext cx="109728" cy="960120"/>
          </a:xfrm>
          <a:prstGeom prst="rect">
            <a:avLst/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608576"/>
            <a:ext cx="3108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>
                <a:solidFill>
                  <a:srgbClr val="2FD19A"/>
                </a:solidFill>
                <a:latin typeface="Arial"/>
              </a:rPr>
              <a:t>SHADOW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608576"/>
            <a:ext cx="6858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2F5F7"/>
                </a:solidFill>
                <a:latin typeface="Arial"/>
              </a:rPr>
              <a:t>Portable evidence + independent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9DA9B5"/>
                </a:solidFill>
                <a:latin typeface="Arial"/>
              </a:rPr>
              <a:t>Trust moved </a:t>
            </a:r>
            <a:r>
              <a:rPr sz="1500" b="1">
                <a:solidFill>
                  <a:srgbClr val="2FD19A"/>
                </a:solidFill>
                <a:latin typeface="Arial"/>
              </a:rPr>
              <a:t>down a layer</a:t>
            </a:r>
            <a:r>
              <a:rPr sz="1500" b="0">
                <a:solidFill>
                  <a:srgbClr val="9DA9B5"/>
                </a:solidFill>
                <a:latin typeface="Arial"/>
              </a:rPr>
              <a:t> — from the voices to the evidence beneath them. A refinement, not a failure.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HOW SHADOW RECORDS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A cryptographically bound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cument 5"/>
          <p:cNvSpPr/>
          <p:nvPr/>
        </p:nvSpPr>
        <p:spPr>
          <a:xfrm>
            <a:off x="1207007" y="2468880"/>
            <a:ext cx="566928" cy="566928"/>
          </a:xfrm>
          <a:prstGeom prst="flowChartDocument">
            <a:avLst/>
          </a:prstGeom>
          <a:noFill/>
          <a:ln w="25400">
            <a:solidFill>
              <a:srgbClr val="9D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2F5F7"/>
                </a:solidFill>
                <a:latin typeface="Arial"/>
              </a:rPr>
              <a:t>Source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doc</a:t>
            </a:r>
          </a:p>
        </p:txBody>
      </p:sp>
      <p:sp>
        <p:nvSpPr>
          <p:cNvPr id="8" name="Rectangle 7"/>
          <p:cNvSpPr/>
          <p:nvPr/>
        </p:nvSpPr>
        <p:spPr>
          <a:xfrm>
            <a:off x="2340864" y="2743200"/>
            <a:ext cx="142646" cy="45720"/>
          </a:xfrm>
          <a:prstGeom prst="rect">
            <a:avLst/>
          </a:prstGeom>
          <a:solidFill>
            <a:srgbClr val="3A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ar 6 8"/>
          <p:cNvSpPr/>
          <p:nvPr/>
        </p:nvSpPr>
        <p:spPr>
          <a:xfrm>
            <a:off x="3050438" y="2468880"/>
            <a:ext cx="566928" cy="566928"/>
          </a:xfrm>
          <a:prstGeom prst="gear6">
            <a:avLst/>
          </a:prstGeom>
          <a:noFill/>
          <a:ln w="25400">
            <a:solidFill>
              <a:srgbClr val="9D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1798" y="324612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2F5F7"/>
                </a:solidFill>
                <a:latin typeface="Arial"/>
              </a:rPr>
              <a:t>Action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4294" y="2743200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893868" y="2468880"/>
            <a:ext cx="566928" cy="566928"/>
          </a:xfrm>
          <a:prstGeom prst="hexagon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5228" y="324612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5CA8FF"/>
                </a:solidFill>
                <a:latin typeface="Arial"/>
              </a:rPr>
              <a:t>Event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seq 2 · a3f9…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7724" y="2743200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6517843" y="2514600"/>
            <a:ext cx="457200" cy="457200"/>
          </a:xfrm>
          <a:prstGeom prst="donut">
            <a:avLst/>
          </a:prstGeom>
          <a:noFill/>
          <a:ln w="2540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7066483" y="2514600"/>
            <a:ext cx="457200" cy="457200"/>
          </a:xfrm>
          <a:prstGeom prst="donut">
            <a:avLst/>
          </a:prstGeom>
          <a:noFill/>
          <a:ln w="2540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11035" y="2715768"/>
            <a:ext cx="219456" cy="54864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8659" y="324612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5CA8FF"/>
                </a:solidFill>
                <a:latin typeface="Arial"/>
              </a:rPr>
              <a:t>Hash chain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commits prev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71155" y="2743200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8-Point Star 19"/>
          <p:cNvSpPr/>
          <p:nvPr/>
        </p:nvSpPr>
        <p:spPr>
          <a:xfrm>
            <a:off x="8580729" y="2468880"/>
            <a:ext cx="566928" cy="566928"/>
          </a:xfrm>
          <a:prstGeom prst="star8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2089" y="324612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5CA8FF"/>
                </a:solidFill>
                <a:latin typeface="Arial"/>
              </a:rPr>
              <a:t>Ed25519 seal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batch root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4585" y="2743200"/>
            <a:ext cx="142646" cy="4572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24160" y="2468880"/>
            <a:ext cx="566928" cy="566928"/>
          </a:xfrm>
          <a:prstGeom prst="ellipse">
            <a:avLst/>
          </a:prstGeom>
          <a:noFill/>
          <a:ln w="2540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24505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2FD19A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24612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2FD19A"/>
                </a:solidFill>
                <a:latin typeface="Arial"/>
              </a:rPr>
              <a:t>Verify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independent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Arial"/>
              </a:rPr>
              <a:t>Change one earlier event → the </a:t>
            </a:r>
            <a:r>
              <a:rPr sz="1500" b="1">
                <a:solidFill>
                  <a:srgbClr val="FF5F6D"/>
                </a:solidFill>
                <a:latin typeface="Arial"/>
              </a:rPr>
              <a:t>first broken link</a:t>
            </a:r>
            <a:r>
              <a:rPr sz="1500" b="0">
                <a:solidFill>
                  <a:srgbClr val="F2F5F7"/>
                </a:solidFill>
                <a:latin typeface="Arial"/>
              </a:rPr>
              <a:t> and its downstream impact become visible.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74920"/>
            <a:ext cx="219456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FD19A"/>
                </a:solidFill>
                <a:latin typeface="Arial"/>
              </a:rPr>
              <a:t>VERIFIES OFFLINE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5074920"/>
            <a:ext cx="23774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507492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5CA8FF"/>
                </a:solidFill>
                <a:latin typeface="Arial"/>
              </a:rPr>
              <a:t>SHA-256 + Ed25519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One core, three profiles, many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61320" cy="109728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84248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5CA8FF"/>
                </a:solidFill>
                <a:latin typeface="Arial"/>
              </a:rPr>
              <a:t>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02536"/>
            <a:ext cx="5760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Arial"/>
              </a:rPr>
              <a:t>CLI · MCP (11) · HTTP · verify.html · Unity Shadow Lens · Three.js replay · 3 explainers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2221991"/>
            <a:ext cx="2148840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2221991"/>
            <a:ext cx="2148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F2C14E"/>
                </a:solidFill>
                <a:latin typeface="Arial"/>
              </a:rPr>
              <a:t>MIXED MATURITY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54680"/>
            <a:ext cx="10561320" cy="109728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64408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5CA8FF"/>
                </a:solidFill>
                <a:latin typeface="Arial"/>
              </a:rPr>
              <a:t>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82696"/>
            <a:ext cx="5760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Arial"/>
              </a:rPr>
              <a:t>banking-v1     ·     data-science-v1     ·     coding-agent-v1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502152"/>
            <a:ext cx="2148840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502152"/>
            <a:ext cx="2148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5CA8FF"/>
                </a:solidFill>
                <a:latin typeface="Arial"/>
              </a:rPr>
              <a:t>ONE GRAMMAR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34840"/>
            <a:ext cx="10561320" cy="109728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44568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5CA8FF"/>
                </a:solidFill>
                <a:latin typeface="Arial"/>
              </a:rPr>
              <a:t>SHADOW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62855"/>
            <a:ext cx="5760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Arial"/>
              </a:rPr>
              <a:t>canonical events · hash chain · Ed25519 · source maps · claim–evidence graph · ingest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782312"/>
            <a:ext cx="2148840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4782312"/>
            <a:ext cx="2148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2FD19A"/>
                </a:solidFill>
                <a:latin typeface="Arial"/>
              </a:rPr>
              <a:t>HOST-TESTED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561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A portable </a:t>
            </a:r>
            <a:r>
              <a:rPr sz="1300" b="1">
                <a:solidFill>
                  <a:srgbClr val="5CA8FF"/>
                </a:solidFill>
                <a:latin typeface="Arial"/>
              </a:rPr>
              <a:t>evidence bundle</a:t>
            </a:r>
            <a:r>
              <a:rPr sz="1300" b="0">
                <a:solidFill>
                  <a:srgbClr val="9DA9B5"/>
                </a:solidFill>
                <a:latin typeface="Arial"/>
              </a:rPr>
              <a:t> flows through every layer — verifiable by anyone, offline. Interface maturity is labelled, not hidden.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THREE PROFILES, ONE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Same machinery, domain-specific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cument 6"/>
          <p:cNvSpPr/>
          <p:nvPr/>
        </p:nvSpPr>
        <p:spPr>
          <a:xfrm>
            <a:off x="1005840" y="2148840"/>
            <a:ext cx="502920" cy="548640"/>
          </a:xfrm>
          <a:prstGeom prst="flowChartDocument">
            <a:avLst/>
          </a:prstGeom>
          <a:noFill/>
          <a:ln w="2540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Arial"/>
              </a:rPr>
              <a:t>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DA9B5"/>
                </a:solidFill>
                <a:latin typeface="Arial"/>
              </a:rPr>
              <a:t>document → risk claim → source quote</a:t>
            </a:r>
          </a:p>
        </p:txBody>
      </p:sp>
      <p:pic>
        <p:nvPicPr>
          <p:cNvPr id="10" name="Picture 9" descr="s6-banking-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91840"/>
            <a:ext cx="2926080" cy="146089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05840" y="3291840"/>
            <a:ext cx="2926080" cy="1460898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>
                <a:solidFill>
                  <a:srgbClr val="8A94A0"/>
                </a:solidFill>
                <a:latin typeface="Arial"/>
              </a:rPr>
              <a:t>live audit-chain fixture (real render)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9659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agnetic Disk 13"/>
          <p:cNvSpPr/>
          <p:nvPr/>
        </p:nvSpPr>
        <p:spPr>
          <a:xfrm>
            <a:off x="4892040" y="2148840"/>
            <a:ext cx="502920" cy="548640"/>
          </a:xfrm>
          <a:prstGeom prst="flowChartMagneticDisk">
            <a:avLst/>
          </a:prstGeom>
          <a:noFill/>
          <a:ln w="2540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21945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Arial"/>
              </a:rPr>
              <a:t>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788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DA9B5"/>
                </a:solidFill>
                <a:latin typeface="Arial"/>
              </a:rPr>
              <a:t>dataset → model → metric → selection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3337560"/>
            <a:ext cx="2926080" cy="402336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33756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5CA8FF"/>
                </a:solidFill>
                <a:latin typeface="Arial"/>
              </a:rP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37560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versioned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813048"/>
            <a:ext cx="2926080" cy="402336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813048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5CA8FF"/>
                </a:solidFill>
                <a:latin typeface="Arial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13048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tool/model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288536"/>
            <a:ext cx="2926080" cy="402336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288536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5CA8FF"/>
                </a:solidFill>
                <a:latin typeface="Arial"/>
              </a:rP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88536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scored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4764024"/>
            <a:ext cx="2926080" cy="402336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764024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5CA8FF"/>
                </a:solidFill>
                <a:latin typeface="Arial"/>
              </a:rPr>
              <a:t>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64024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✓ chosen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9659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erge 29"/>
          <p:cNvSpPr/>
          <p:nvPr/>
        </p:nvSpPr>
        <p:spPr>
          <a:xfrm>
            <a:off x="8778240" y="2148840"/>
            <a:ext cx="502920" cy="502920"/>
          </a:xfrm>
          <a:prstGeom prst="flowChartMerg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21945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Arial"/>
              </a:rPr>
              <a:t>CODING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788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DA9B5"/>
                </a:solidFill>
                <a:latin typeface="Arial"/>
              </a:rPr>
              <a:t>issue → tool call → diff → tests → commit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333756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3401568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2FD19A"/>
                </a:solidFill>
                <a:latin typeface="Arial"/>
              </a:rPr>
              <a:t>+ </a:t>
            </a:r>
            <a:r>
              <a:rPr sz="1050" b="0">
                <a:solidFill>
                  <a:srgbClr val="9DA9B5"/>
                </a:solidFill>
                <a:latin typeface="Arial"/>
              </a:rPr>
              <a:t>added verified path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2FD19A"/>
                </a:solidFill>
                <a:latin typeface="Arial"/>
              </a:rPr>
              <a:t>+ </a:t>
            </a:r>
            <a:r>
              <a:rPr sz="1050" b="0">
                <a:solidFill>
                  <a:srgbClr val="9DA9B5"/>
                </a:solidFill>
                <a:latin typeface="Arial"/>
              </a:rPr>
              <a:t>guard on ingest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FF5F6D"/>
                </a:solidFill>
                <a:latin typeface="Arial"/>
              </a:rPr>
              <a:t>−  </a:t>
            </a:r>
            <a:r>
              <a:rPr sz="1050" b="0">
                <a:solidFill>
                  <a:srgbClr val="9DA9B5"/>
                </a:solidFill>
                <a:latin typeface="Arial"/>
              </a:rPr>
              <a:t>removed silent skip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452628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8212B"/>
          </a:solidFill>
          <a:ln w="1143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4526280"/>
            <a:ext cx="1508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2FD19A"/>
                </a:solidFill>
                <a:latin typeface="Arial"/>
              </a:rPr>
              <a:t>tests ✓✓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4526280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18212B"/>
          </a:solidFill>
          <a:ln w="1143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4526280"/>
            <a:ext cx="1325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5CA8FF"/>
                </a:solidFill>
                <a:latin typeface="Arial"/>
              </a:rPr>
              <a:t>commit a3f9…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5321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18212B"/>
          </a:solidFill>
          <a:ln w="12700">
            <a:solidFill>
              <a:srgbClr val="5C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532120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5CA8FF"/>
                </a:solidFill>
                <a:latin typeface="Arial"/>
              </a:rPr>
              <a:t>Underneath, identical:   sequence → hash chain → signature → source resolution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THE KEY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Exact tamper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08176"/>
            <a:ext cx="1280160" cy="41148"/>
          </a:xfrm>
          <a:prstGeom prst="rect">
            <a:avLst/>
          </a:prstGeom>
          <a:solidFill>
            <a:srgbClr val="FF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566928"/>
            <a:ext cx="3749039" cy="457200"/>
          </a:xfrm>
          <a:prstGeom prst="roundRect">
            <a:avLst>
              <a:gd name="adj" fmla="val 40000"/>
            </a:avLst>
          </a:prstGeom>
          <a:noFill/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66928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F2C14E"/>
                </a:solidFill>
                <a:latin typeface="Arial"/>
              </a:rPr>
              <a:t>Spatial replay fixture — first failed sequence 3</a:t>
            </a:r>
          </a:p>
        </p:txBody>
      </p:sp>
      <p:pic>
        <p:nvPicPr>
          <p:cNvPr id="8" name="Picture 7" descr="s7-tam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73152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737360"/>
            <a:ext cx="7315200" cy="4114800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88366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Seq 3 — TAMPERED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the mutated Council-claims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7432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70662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Downstream 4, 5, 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NOT VERIFIED — chain invalidated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566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52958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Analytical correctness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NOT EVALUATED — not judged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4805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599432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9DA9B5"/>
                </a:solidFill>
                <a:latin typeface="Arial"/>
              </a:rPr>
              <a:t>Shadow reports: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first failed seq: 3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2F5F7"/>
                </a:solidFill>
                <a:latin typeface="Arial"/>
              </a:rPr>
              <a:t>reason: prev_hash_mismatch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2C14E"/>
                </a:solidFill>
                <a:latin typeface="Arial"/>
              </a:rPr>
              <a:t>downstream: 4, 5,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9DA9B5"/>
                </a:solidFill>
                <a:latin typeface="Arial"/>
              </a:rPr>
              <a:t>Integrity failure does not determine analytical correctness — the two stay independent.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VERIFY THE 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Can you trust the verifier page itself?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8-verifier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6675120" cy="32360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92040" y="1828800"/>
            <a:ext cx="6675120" cy="3236060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5138012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8A94A0"/>
                </a:solidFill>
                <a:latin typeface="Arial"/>
              </a:rPr>
              <a:t>Real render — Verify-the-Verifier (fixture release key)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7510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Manifest signature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9806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Assets match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SIGNED MANIFEST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90D12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2102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Independent comparison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9DA9B5"/>
                </a:solidFill>
                <a:latin typeface="Arial"/>
              </a:rPr>
              <a:t>NOT PERFORMED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A page hashing itself is </a:t>
            </a:r>
            <a:r>
              <a:rPr sz="1300" b="1">
                <a:solidFill>
                  <a:srgbClr val="FF5F6D"/>
                </a:solidFill>
                <a:latin typeface="Arial"/>
              </a:rPr>
              <a:t>not independent trust</a:t>
            </a:r>
            <a:r>
              <a:rPr sz="1300" b="0">
                <a:solidFill>
                  <a:srgbClr val="F2F5F7"/>
                </a:solidFill>
                <a:latin typeface="Arial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F2F5F7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9DA9B5"/>
                </a:solidFill>
                <a:latin typeface="Arial"/>
              </a:rPr>
              <a:t>Signing today is a </a:t>
            </a:r>
            <a:r>
              <a:rPr sz="1250" b="1">
                <a:solidFill>
                  <a:srgbClr val="F2C14E"/>
                </a:solidFill>
                <a:latin typeface="Arial"/>
              </a:rPr>
              <a:t>FIXTURE release key</a:t>
            </a:r>
            <a:r>
              <a:rPr sz="1250" b="0">
                <a:solidFill>
                  <a:srgbClr val="9DA9B5"/>
                </a:solidFill>
                <a:latin typeface="Arial"/>
              </a:rPr>
              <a:t>, not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SPATIAL AUDIT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3D for sequence, provenance, tamper propagation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9-threejs-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257800" cy="27996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828800"/>
            <a:ext cx="5257800" cy="2799608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8A94A0"/>
                </a:solidFill>
                <a:latin typeface="Arial"/>
              </a:rPr>
              <a:t>THREE.JS — arc layout · browser-rendered</a:t>
            </a:r>
          </a:p>
        </p:txBody>
      </p:sp>
      <p:pic>
        <p:nvPicPr>
          <p:cNvPr id="9" name="Picture 8" descr="s9-threejs-tam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120640" cy="27265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828800"/>
            <a:ext cx="5120640" cy="2726575"/>
          </a:xfrm>
          <a:prstGeom prst="rect">
            <a:avLst/>
          </a:prstGeom>
          <a:noFill/>
          <a:ln w="12700">
            <a:solidFill>
              <a:srgbClr val="3A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1605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8A94A0"/>
                </a:solidFill>
                <a:latin typeface="Arial"/>
              </a:rPr>
              <a:t>THREE.JS — tamper cascade · browser-rendered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26280"/>
            <a:ext cx="6720840" cy="15087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6446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1">
                <a:solidFill>
                  <a:srgbClr val="5CA8FF"/>
                </a:solidFill>
                <a:latin typeface="Arial"/>
              </a:rPr>
              <a:t>THREE.JS STORY ADAPTER</a:t>
            </a:r>
            <a:r>
              <a:rPr sz="1050" b="0">
                <a:solidFill>
                  <a:srgbClr val="9DA9B5"/>
                </a:solidFill>
                <a:latin typeface="Arial"/>
              </a:rPr>
              <a:t>   host-tested contract + browser-rendered · 5 layouts + 2D fallback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1">
                <a:solidFill>
                  <a:srgbClr val="2FD19A"/>
                </a:solidFill>
                <a:latin typeface="Arial"/>
              </a:rPr>
              <a:t>SHARED SCENE / STORY CONTRACT</a:t>
            </a:r>
            <a:r>
              <a:rPr sz="1050" b="0">
                <a:solidFill>
                  <a:srgbClr val="9DA9B5"/>
                </a:solidFill>
                <a:latin typeface="Arial"/>
              </a:rPr>
              <a:t>   authored + host-tested (shadow-3d-scene-v1)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1">
                <a:solidFill>
                  <a:srgbClr val="F2C14E"/>
                </a:solidFill>
                <a:latin typeface="Arial"/>
              </a:rPr>
              <a:t>UNITY SHADOW LENS</a:t>
            </a:r>
            <a:r>
              <a:rPr sz="1050" b="0">
                <a:solidFill>
                  <a:srgbClr val="9DA9B5"/>
                </a:solidFill>
                <a:latin typeface="Arial"/>
              </a:rPr>
              <a:t>   unity-authored · C# contract-drift host-tested · Android-built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050" b="0">
                <a:solidFill>
                  <a:srgbClr val="9DA9B5"/>
                </a:solidFill>
                <a:latin typeface="Arial"/>
              </a:rPr>
              <a:t>   </a:t>
            </a:r>
            <a:r>
              <a:rPr sz="1050" b="1">
                <a:solidFill>
                  <a:srgbClr val="8A94A0"/>
                </a:solidFill>
                <a:latin typeface="Arial"/>
              </a:rPr>
              <a:t>device-validation pending · not pictured (no Game View capture)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553712"/>
            <a:ext cx="4114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9DA9B5"/>
                </a:solidFill>
                <a:latin typeface="Arial"/>
              </a:rPr>
              <a:t>Honest bounds: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8A94A0"/>
                </a:solidFill>
                <a:latin typeface="Arial"/>
              </a:rPr>
              <a:t>· not eye tracking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8A94A0"/>
                </a:solidFill>
                <a:latin typeface="Arial"/>
              </a:rPr>
              <a:t>· no 6DoF claim on mock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8A94A0"/>
                </a:solidFill>
                <a:latin typeface="Arial"/>
              </a:rPr>
              <a:t>· no user study yet (RQ4)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EVALUATION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Measured today — not inferred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5875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2FD19A"/>
                </a:solidFill>
                <a:latin typeface="Arial"/>
              </a:rPr>
              <a:t>1,892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F2F5F7"/>
                </a:solidFill>
                <a:latin typeface="Arial"/>
              </a:rPr>
              <a:t>of 1,895 host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F2F5F7"/>
                </a:solidFill>
                <a:latin typeface="Arial"/>
              </a:rPr>
              <a:t>0 failed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9DA9B5"/>
                </a:solidFill>
                <a:latin typeface="Arial"/>
              </a:rPr>
              <a:t>3 skipped (env-gated)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8A94A0"/>
                </a:solidFill>
                <a:latin typeface="Arial"/>
              </a:rPr>
              <a:t>36 suites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6995160" cy="10515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91440" cy="1051560"/>
          </a:xfrm>
          <a:prstGeom prst="rect">
            <a:avLst/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6629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BROWSER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F2F5F7"/>
                </a:solidFill>
                <a:latin typeface="Arial"/>
              </a:rPr>
              <a:t>Chromium 149 · EN + 简体中文 · 0 external requests · 0 CSP violations · offline verify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72968"/>
            <a:ext cx="6995160" cy="10515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172968"/>
            <a:ext cx="91440" cy="105156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264408"/>
            <a:ext cx="6629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ANDROID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F2F5F7"/>
                </a:solidFill>
                <a:latin typeface="Arial"/>
              </a:rPr>
              <a:t>APK built · 24.4 MB · SHA-256 recorded · NOT device-validated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379976"/>
            <a:ext cx="6995160" cy="10515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379976"/>
            <a:ext cx="91440" cy="105156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471416"/>
            <a:ext cx="6629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SPATIAL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F2F5F7"/>
                </a:solidFill>
                <a:latin typeface="Arial"/>
              </a:rPr>
              <a:t>Scene + story contract host-tested · Three.js adapter host-tested + browser-rendered · Unity C# contract-drift tested · no user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8A94A0"/>
                </a:solidFill>
                <a:latin typeface="Arial"/>
              </a:rPr>
              <a:t>Re-run 2026-07-21 on feat/shadow-shared-story-adapters @ 5f655e8.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CURRENT STATE AND CAPSTONE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Accurate statuses, not blanket ‘pending’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20640" cy="37947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FD19A"/>
                </a:solidFill>
                <a:latin typeface="Arial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00" b="0">
                <a:solidFill>
                  <a:srgbClr val="F2F5F7"/>
                </a:solidFill>
                <a:latin typeface="Arial"/>
              </a:rPr>
              <a:t>Core evidence + hash-chain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00" b="0">
                <a:solidFill>
                  <a:srgbClr val="F2F5F7"/>
                </a:solidFill>
                <a:latin typeface="Arial"/>
              </a:rPr>
              <a:t>Claim–evidence graph (host-tested)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00" b="0">
                <a:solidFill>
                  <a:srgbClr val="F2F5F7"/>
                </a:solidFill>
                <a:latin typeface="Arial"/>
              </a:rPr>
              <a:t>Bilingual offline verifier · 3 explainers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00" b="0">
                <a:solidFill>
                  <a:srgbClr val="F2F5F7"/>
                </a:solidFill>
                <a:latin typeface="Arial"/>
              </a:rPr>
              <a:t>Shared scene + story contract — authored + host-tested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177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00" b="0">
                <a:solidFill>
                  <a:srgbClr val="F2F5F7"/>
                </a:solidFill>
                <a:latin typeface="Arial"/>
              </a:rPr>
              <a:t>Three.js story adapter — host-tested + browser-rendered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0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200" b="0">
                <a:solidFill>
                  <a:srgbClr val="F2F5F7"/>
                </a:solidFill>
                <a:latin typeface="Arial"/>
              </a:rPr>
              <a:t>Unity C# contract-drift tested · Android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5120640" cy="37947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2C14E"/>
                </a:solidFill>
                <a:latin typeface="Arial"/>
              </a:rPr>
              <a:t>NEXT — CAPSTONE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00" b="0">
                <a:solidFill>
                  <a:srgbClr val="F2F5F7"/>
                </a:solidFill>
                <a:latin typeface="Arial"/>
              </a:rPr>
              <a:t>Unity production integration + editmode/playmode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00" b="0">
                <a:solidFill>
                  <a:srgbClr val="F2F5F7"/>
                </a:solidFill>
                <a:latin typeface="Arial"/>
              </a:rPr>
              <a:t>Beam Pro device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00" b="0">
                <a:solidFill>
                  <a:srgbClr val="F2F5F7"/>
                </a:solidFill>
                <a:latin typeface="Arial"/>
              </a:rPr>
              <a:t>XREAL native input / camera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00" b="0">
                <a:solidFill>
                  <a:srgbClr val="F2F5F7"/>
                </a:solidFill>
                <a:latin typeface="Arial"/>
              </a:rPr>
              <a:t>Device performance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00" b="0">
                <a:solidFill>
                  <a:srgbClr val="F2F5F7"/>
                </a:solidFill>
                <a:latin typeface="Arial"/>
              </a:rPr>
              <a:t>Spatial-vs-2D user study (RQ4)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○  </a:t>
            </a:r>
            <a:r>
              <a:rPr sz="1200" b="0">
                <a:solidFill>
                  <a:srgbClr val="F2F5F7"/>
                </a:solidFill>
                <a:latin typeface="Arial"/>
              </a:rPr>
              <a:t>Production signing · KMS/HSM ·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9DA9B5"/>
                </a:solidFill>
                <a:latin typeface="Arial"/>
              </a:rPr>
              <a:t>Ingest audit: </a:t>
            </a:r>
            <a:r>
              <a:rPr sz="1150" b="1">
                <a:solidFill>
                  <a:srgbClr val="2FD19A"/>
                </a:solidFill>
                <a:latin typeface="Arial"/>
              </a:rPr>
              <a:t>structural host-tested</a:t>
            </a:r>
            <a:r>
              <a:rPr sz="1150" b="0">
                <a:solidFill>
                  <a:srgbClr val="9DA9B5"/>
                </a:solidFill>
                <a:latin typeface="Arial"/>
              </a:rPr>
              <a:t> · </a:t>
            </a:r>
            <a:r>
              <a:rPr sz="1150" b="1">
                <a:solidFill>
                  <a:srgbClr val="F2C14E"/>
                </a:solidFill>
                <a:latin typeface="Arial"/>
              </a:rPr>
              <a:t>semantic production-evaluation pending</a:t>
            </a:r>
            <a:r>
              <a:rPr sz="1150" b="1">
                <a:solidFill>
                  <a:srgbClr val="9DA9B5"/>
                </a:solidFill>
                <a:latin typeface="Arial"/>
              </a:rPr>
              <a:t> — not device-pending.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CA8FF"/>
                </a:solidFill>
                <a:latin typeface="Arial"/>
              </a:rPr>
              <a:t>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800" b="0">
                <a:solidFill>
                  <a:srgbClr val="F2F5F7"/>
                </a:solidFill>
                <a:latin typeface="Arial"/>
              </a:rPr>
              <a:t>Shadow does not ask an auditor to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800" b="0">
                <a:solidFill>
                  <a:srgbClr val="F2F5F7"/>
                </a:solidFill>
                <a:latin typeface="Arial"/>
              </a:rPr>
              <a:t>trust the AI’s answer.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F2F5F7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Arial"/>
              </a:rPr>
              <a:t>It gives them evidence they can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000" b="1">
                <a:solidFill>
                  <a:srgbClr val="F2F5F7"/>
                </a:solidFill>
                <a:latin typeface="Arial"/>
              </a:rPr>
              <a:t>independently verify.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029200"/>
            <a:ext cx="1645920" cy="4114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30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9DA9B5"/>
                </a:solidFill>
                <a:latin typeface="Arial"/>
              </a:rPr>
              <a:t>Sequence.  Sources.  Signatures.  Exact tamper location.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2FD19A"/>
                </a:solidFill>
                <a:latin typeface="Arial"/>
              </a:rPr>
              <a:t>Integrity — not correctness.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5CA8FF"/>
                </a:solidFill>
                <a:latin typeface="Arial"/>
              </a:rPr>
              <a:t>github.com/alex-jb/shadow-mentor    ·    </a:t>
            </a:r>
            <a:r>
              <a:rPr sz="1250" b="1">
                <a:solidFill>
                  <a:srgbClr val="F2F5F7"/>
                </a:solidFill>
                <a:latin typeface="Arial"/>
              </a:rPr>
              <a:t>Thank you — questions welcome.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8A94A0"/>
                </a:solidFill>
                <a:latin typeface="Arial"/>
              </a:rPr>
              <a:t>BACKUP ·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Capability ladder — nothing over-claimed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Evidence schema · hash chain · Ed25519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FD19A"/>
                </a:solidFill>
                <a:latin typeface="Arial"/>
              </a:rPr>
              <a:t>HOST-TESTED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Offline browser verifier (EN + zh-CN)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860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FD19A"/>
                </a:solidFill>
                <a:latin typeface="Arial"/>
              </a:rPr>
              <a:t>BROWSER-RENDERED /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Verify-the-Verifier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7432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2C14E"/>
                </a:solidFill>
                <a:latin typeface="Arial"/>
              </a:rPr>
              <a:t>FIXTURE-SIGNED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Claim–evidence graph · 3 explainers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2004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FD19A"/>
                </a:solidFill>
                <a:latin typeface="Arial"/>
              </a:rPr>
              <a:t>HOST-TESTED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Shared scene + guided-story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6576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FD19A"/>
                </a:solidFill>
                <a:latin typeface="Arial"/>
              </a:rPr>
              <a:t>AUTHORED + HOST-TESTED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Three.js story 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1148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5CA8FF"/>
                </a:solidFill>
                <a:latin typeface="Arial"/>
              </a:rPr>
              <a:t>HOST-TESTED · BROWSER-RENDERED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Unity Shadow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5720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2C14E"/>
                </a:solidFill>
                <a:latin typeface="Arial"/>
              </a:rPr>
              <a:t>UNITY-AUTHORED · C# DRIFT-TESTED · DEVICE-PENDING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Android mock APK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0292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F2C14E"/>
                </a:solidFill>
                <a:latin typeface="Arial"/>
              </a:rPr>
              <a:t>ANDROID-BUILT (not device-validated)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Ingest audit — structural / 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4864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5CA8FF"/>
                </a:solidFill>
                <a:latin typeface="Arial"/>
              </a:rPr>
              <a:t>HOST-TESTED / PRODUCTION-PENDING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2F5F7"/>
                </a:solidFill>
                <a:latin typeface="Arial"/>
              </a:rPr>
              <a:t>Spatial comprehension benefit (RQ4)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9436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8A94A0"/>
                </a:solidFill>
                <a:latin typeface="Arial"/>
              </a:rPr>
              <a:t>NOT IMPLEMENTED — no user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8A94A0"/>
                </a:solidFill>
                <a:latin typeface="Arial"/>
              </a:rPr>
              <a:t>BACKUP · CRYPTOGRAPHIC 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What a valid signature does and does not 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F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2FD19A"/>
                </a:solidFill>
                <a:latin typeface="Arial"/>
              </a:rPr>
              <a:t>ESTABLISHES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The bytes match the sealed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644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The chain is unbroken (or where it breaks)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3133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The batch root was signed by a known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9826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2FD19A"/>
                </a:solidFill>
                <a:latin typeface="Arial"/>
              </a:rPr>
              <a:t>✓  </a:t>
            </a:r>
            <a:r>
              <a:rPr sz="1300" b="0">
                <a:solidFill>
                  <a:srgbClr val="F2F5F7"/>
                </a:solidFill>
                <a:latin typeface="Arial"/>
              </a:rPr>
              <a:t>Conformance to a domain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FF5F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5F6D"/>
                </a:solidFill>
                <a:latin typeface="Arial"/>
              </a:rPr>
              <a:t>DOES NOT ESTABLISH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the cited source was truthful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644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the conclusion is 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3133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signing is production-grade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9826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F5F6D"/>
                </a:solidFill>
                <a:latin typeface="Arial"/>
              </a:rPr>
              <a:t>✗  </a:t>
            </a:r>
            <a:r>
              <a:rPr sz="1300" b="0">
                <a:solidFill>
                  <a:srgbClr val="F2F5F7"/>
                </a:solidFill>
                <a:latin typeface="Arial"/>
              </a:rPr>
              <a:t>That any regulation mandates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8A94A0"/>
                </a:solidFill>
                <a:latin typeface="Arial"/>
              </a:rPr>
              <a:t>BACKUP ·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Stated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Evidence is fixture data; limited live-provider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Production signing not implemented (fixture release key)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Unity is authored + C# contract-drift-tested — not editmode/playmode-run, not device-validated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Device validation pending (Beam Pro); XREAL native not integrated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No completed user study — RQ4 spatial benefit unproven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Semantic ingest audit: production evaluation pending (structural is host-tested)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No proof of source truth; no proof of analytical correctness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2C14E"/>
                </a:solidFill>
                <a:latin typeface="Arial"/>
              </a:rPr>
              <a:t>—  </a:t>
            </a:r>
            <a:r>
              <a:rPr sz="1350" b="0">
                <a:solidFill>
                  <a:srgbClr val="F2F5F7"/>
                </a:solidFill>
                <a:latin typeface="Arial"/>
              </a:rPr>
              <a:t>No production KMS/HSM, key rotation, or durable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8A94A0"/>
                </a:solidFill>
                <a:latin typeface="Arial"/>
              </a:rPr>
              <a:t>BACKUP · DEMO FALLBACK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2F5F7"/>
                </a:solidFill>
                <a:latin typeface="Arial"/>
              </a:rPr>
              <a:t>Never depend on a live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1280160" cy="41148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91440" cy="749808"/>
          </a:xfrm>
          <a:prstGeom prst="rect">
            <a:avLst/>
          </a:prstGeom>
          <a:solidFill>
            <a:srgbClr val="2FD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2FD19A"/>
                </a:solidFill>
                <a:latin typeface="Arial"/>
              </a:rPr>
              <a:t>A · Live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serve verifier package locally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91440" cy="749808"/>
          </a:xfrm>
          <a:prstGeom prst="rect">
            <a:avLst/>
          </a:prstGeom>
          <a:solidFill>
            <a:srgbClr val="5C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5CA8FF"/>
                </a:solidFill>
                <a:latin typeface="Arial"/>
              </a:rPr>
              <a:t>B · Browser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9260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open the frozen offline package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840480"/>
            <a:ext cx="91440" cy="74980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2C14E"/>
                </a:solidFill>
                <a:latin typeface="Arial"/>
              </a:rPr>
              <a:t>C · Recorded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8404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Open bookmarked fallback video (Shadow verify full demo)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11182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754880"/>
            <a:ext cx="91440" cy="749808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8A94A0"/>
                </a:solidFill>
                <a:latin typeface="Arial"/>
              </a:rPr>
              <a:t>D · Slide screenshots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754880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2F5F7"/>
                </a:solidFill>
                <a:latin typeface="Arial"/>
              </a:rPr>
              <a:t>embedded figures — one keystroke 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9DA9B5"/>
                </a:solidFill>
                <a:latin typeface="Arial"/>
              </a:rPr>
              <a:t>Decision rule: if the live app doesn’t come up cleanly in 20 seconds, open the bookmarked fallback video and keep talking.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Alex Ji · Shadow · Capstone 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8A94A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