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CAPSTONE IN COMPUTER SCIENCE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035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800" b="1">
                <a:solidFill>
                  <a:srgbClr val="F2F5F7"/>
                </a:solidFill>
                <a:latin typeface="Arial"/>
              </a:rPr>
              <a:t>Shadow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035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>
                <a:solidFill>
                  <a:srgbClr val="F2F5F7"/>
                </a:solidFill>
                <a:latin typeface="Arial"/>
              </a:rPr>
              <a:t>A Cryptographically Verifiable Evidence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>
                <a:solidFill>
                  <a:srgbClr val="F2F5F7"/>
                </a:solidFill>
                <a:latin typeface="Arial"/>
              </a:rPr>
              <a:t>and Spatial Audit System for AI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14800"/>
            <a:ext cx="164592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5CA8FF"/>
                </a:solidFill>
                <a:latin typeface="Arial"/>
              </a:rPr>
              <a:t>From AI answers to independently verifiable decision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Arial"/>
              </a:rPr>
              <a:t>Alex Ji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M.S. Computer Science · Yeshiva University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Arial"/>
              </a:rPr>
              <a:t>Practice presentation · 2026-07-21</a:t>
            </a:r>
          </a:p>
        </p:txBody>
      </p:sp>
      <p:pic>
        <p:nvPicPr>
          <p:cNvPr id="10" name="Picture 9" descr="v2-3d-current-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29200" cy="28289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20840" y="1371600"/>
            <a:ext cx="5029200" cy="2828925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58064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Arial"/>
              </a:rPr>
              <a:t>Real render — Shadow 3D audit arc (research prototype)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THE TRUST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An answer is not an evidence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1463040"/>
          </a:xfrm>
          <a:prstGeom prst="roundRect">
            <a:avLst>
              <a:gd name="adj" fmla="val 12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9DA9B5"/>
                </a:solidFill>
                <a:latin typeface="Arial"/>
              </a:rPr>
              <a:t>AI ANSWER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F2F5F7"/>
                </a:solidFill>
                <a:latin typeface="Arial"/>
              </a:rPr>
              <a:t>“Approve the loan.”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Arial"/>
              </a:rPr>
              <a:t>fluent · unverifiable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103120"/>
            <a:ext cx="914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5000" b="1">
                <a:solidFill>
                  <a:srgbClr val="FF5F6D"/>
                </a:solidFill>
                <a:latin typeface="Arial"/>
              </a:rPr>
              <a:t>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103120"/>
            <a:ext cx="5943600" cy="1463040"/>
          </a:xfrm>
          <a:prstGeom prst="roundRect">
            <a:avLst>
              <a:gd name="adj" fmla="val 12000"/>
            </a:avLst>
          </a:prstGeom>
          <a:solidFill>
            <a:srgbClr val="111820"/>
          </a:solidFill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286000"/>
            <a:ext cx="5577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EVIDENCE RECORD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source → tool action → sequence → signature → verifier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Arial"/>
              </a:rPr>
              <a:t>structured · signed · independently checkable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SOURCE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What did it rely 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ACTION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What did it do?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INTEGRITY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Was it changed after?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INDEPENDENCE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Can someone else verify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Ordinary logs are mutable and platform-specific; a model’s explanation is generated prose, not a record.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PROJECT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From more opinions to verifiable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109728" cy="9601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3108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5CA8FF"/>
                </a:solidFill>
                <a:latin typeface="Arial"/>
              </a:rPr>
              <a:t>ORALLEXA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6858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7"/>
                </a:solidFill>
                <a:latin typeface="Arial"/>
              </a:rPr>
              <a:t>Multiple AI perspectives debate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6B7480"/>
                </a:solidFill>
                <a:latin typeface="Arial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0128"/>
            <a:ext cx="109728" cy="96012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10128"/>
            <a:ext cx="3108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F2C14E"/>
                </a:solidFill>
                <a:latin typeface="Arial"/>
              </a:rPr>
              <a:t>THE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10128"/>
            <a:ext cx="6858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7"/>
                </a:solidFill>
                <a:latin typeface="Arial"/>
              </a:rPr>
              <a:t>More voices do not create verifiability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7880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6B7480"/>
                </a:solidFill>
                <a:latin typeface="Arial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08576"/>
            <a:ext cx="109728" cy="960120"/>
          </a:xfrm>
          <a:prstGeom prst="rect">
            <a:avLst/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608576"/>
            <a:ext cx="3108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2FD19A"/>
                </a:solidFill>
                <a:latin typeface="Arial"/>
              </a:rPr>
              <a:t>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08576"/>
            <a:ext cx="6858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7"/>
                </a:solidFill>
                <a:latin typeface="Arial"/>
              </a:rPr>
              <a:t>Portable evidence + independent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9DA9B5"/>
                </a:solidFill>
                <a:latin typeface="Arial"/>
              </a:rPr>
              <a:t>Trust moved </a:t>
            </a:r>
            <a:r>
              <a:rPr sz="1500" b="1">
                <a:solidFill>
                  <a:srgbClr val="2FD19A"/>
                </a:solidFill>
                <a:latin typeface="Arial"/>
              </a:rPr>
              <a:t>down a layer</a:t>
            </a:r>
            <a:r>
              <a:rPr sz="1500" b="0">
                <a:solidFill>
                  <a:srgbClr val="9DA9B5"/>
                </a:solidFill>
                <a:latin typeface="Arial"/>
              </a:rPr>
              <a:t> — from the voices to the evidence beneath them. A refinement, not a failure.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HOW SHADOW RECORDS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A cryptographically bound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743200"/>
            <a:ext cx="1664208" cy="1280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778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852928"/>
            <a:ext cx="16642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F2F5F7"/>
                </a:solidFill>
                <a:latin typeface="Arial"/>
              </a:rPr>
              <a:t>Source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9DA9B5"/>
                </a:solidFill>
                <a:latin typeface="Arial"/>
              </a:rPr>
              <a:t>doc /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40864" y="3364992"/>
            <a:ext cx="142646" cy="45720"/>
          </a:xfrm>
          <a:prstGeom prst="rect">
            <a:avLst/>
          </a:prstGeom>
          <a:solidFill>
            <a:srgbClr val="3A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01798" y="2743200"/>
            <a:ext cx="1664208" cy="1280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778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1798" y="2852928"/>
            <a:ext cx="16642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F2F5F7"/>
                </a:solidFill>
                <a:latin typeface="Arial"/>
              </a:rPr>
              <a:t>Action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9DA9B5"/>
                </a:solidFill>
                <a:latin typeface="Arial"/>
              </a:rPr>
              <a:t>tool /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294" y="3364992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5228" y="2743200"/>
            <a:ext cx="1664208" cy="1280160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1778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5228" y="2852928"/>
            <a:ext cx="16642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5CA8FF"/>
                </a:solidFill>
                <a:latin typeface="Arial"/>
              </a:rPr>
              <a:t>Event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9DA9B5"/>
                </a:solidFill>
                <a:latin typeface="Arial"/>
              </a:rPr>
              <a:t>seq 2 · a3f9…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7724" y="3364992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8659" y="2743200"/>
            <a:ext cx="1664208" cy="1280160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1778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8659" y="2852928"/>
            <a:ext cx="16642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5CA8FF"/>
                </a:solidFill>
                <a:latin typeface="Arial"/>
              </a:rPr>
              <a:t>Hash chain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9DA9B5"/>
                </a:solidFill>
                <a:latin typeface="Arial"/>
              </a:rPr>
              <a:t>commits prev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71155" y="3364992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2089" y="2743200"/>
            <a:ext cx="1664208" cy="1280160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1778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2089" y="2852928"/>
            <a:ext cx="16642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5CA8FF"/>
                </a:solidFill>
                <a:latin typeface="Arial"/>
              </a:rPr>
              <a:t>Ed25519 seal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9DA9B5"/>
                </a:solidFill>
                <a:latin typeface="Arial"/>
              </a:rPr>
              <a:t>batch root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14585" y="3364992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743200"/>
            <a:ext cx="1664208" cy="1280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778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852928"/>
            <a:ext cx="16642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FD19A"/>
                </a:solidFill>
                <a:latin typeface="Arial"/>
              </a:rPr>
              <a:t>Verify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9DA9B5"/>
                </a:solidFill>
                <a:latin typeface="Arial"/>
              </a:rPr>
              <a:t>independent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Arial"/>
              </a:rPr>
              <a:t>Change one earlier event → the </a:t>
            </a:r>
            <a:r>
              <a:rPr sz="1500" b="1">
                <a:solidFill>
                  <a:srgbClr val="FF5F6D"/>
                </a:solidFill>
                <a:latin typeface="Arial"/>
              </a:rPr>
              <a:t>first broken link</a:t>
            </a:r>
            <a:r>
              <a:rPr sz="1500" b="0">
                <a:solidFill>
                  <a:srgbClr val="F2F5F7"/>
                </a:solidFill>
                <a:latin typeface="Arial"/>
              </a:rPr>
              <a:t> and its downstream impact become visible.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12080"/>
            <a:ext cx="219456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FD19A"/>
                </a:solidFill>
                <a:latin typeface="Arial"/>
              </a:rPr>
              <a:t>VERIFIES OFFLINE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5212080"/>
            <a:ext cx="23774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21208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SHA-256 + Ed25519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One core, three profiles, many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8412480" cy="1170432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02536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5CA8FF"/>
                </a:solidFill>
                <a:latin typeface="Arial"/>
              </a:rPr>
              <a:t>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20824"/>
            <a:ext cx="5852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Arial"/>
              </a:rPr>
              <a:t>CLI · MCP (11) · HTTP · verify.html · Unity Shadow Lens · Three.js replay · explainers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98424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2FD19A"/>
                </a:solidFill>
                <a:latin typeface="Arial"/>
              </a:rPr>
              <a:t>● </a:t>
            </a:r>
            <a:r>
              <a:rPr sz="1050" b="0">
                <a:solidFill>
                  <a:srgbClr val="9DA9B5"/>
                </a:solidFill>
                <a:latin typeface="Arial"/>
              </a:rPr>
              <a:t>verifier BROWSER-RENDERED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31343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F2C14E"/>
                </a:solidFill>
                <a:latin typeface="Arial"/>
              </a:rPr>
              <a:t>● </a:t>
            </a:r>
            <a:r>
              <a:rPr sz="1050" b="0">
                <a:solidFill>
                  <a:srgbClr val="9DA9B5"/>
                </a:solidFill>
                <a:latin typeface="Arial"/>
              </a:rPr>
              <a:t>Unity AUTHORED · device-pending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8412480" cy="1170432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28416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5CA8FF"/>
                </a:solidFill>
                <a:latin typeface="Arial"/>
              </a:rPr>
              <a:t>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46704"/>
            <a:ext cx="5852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Arial"/>
              </a:rPr>
              <a:t>banking-v1     ·     data-science-v1     ·     coding-agent-v1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31012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5CA8FF"/>
                </a:solidFill>
                <a:latin typeface="Arial"/>
              </a:rPr>
              <a:t>● </a:t>
            </a:r>
            <a:r>
              <a:rPr sz="1050" b="0">
                <a:solidFill>
                  <a:srgbClr val="9DA9B5"/>
                </a:solidFill>
                <a:latin typeface="Arial"/>
              </a:rPr>
              <a:t>one verification grammar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80"/>
            <a:ext cx="8412480" cy="1170432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54296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5CA8FF"/>
                </a:solidFill>
                <a:latin typeface="Arial"/>
              </a:rPr>
              <a:t>SHADOW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672584"/>
            <a:ext cx="5852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Arial"/>
              </a:rPr>
              <a:t>canonical events · hash chain · Ed25519 · source maps · claim–evidence graph · ingest audit (structural)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6360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2FD19A"/>
                </a:solidFill>
                <a:latin typeface="Arial"/>
              </a:rPr>
              <a:t>● </a:t>
            </a:r>
            <a:r>
              <a:rPr sz="1050" b="0">
                <a:solidFill>
                  <a:srgbClr val="9DA9B5"/>
                </a:solidFill>
                <a:latin typeface="Arial"/>
              </a:rPr>
              <a:t>HOST-TESTED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874519"/>
            <a:ext cx="1874519" cy="3822191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1270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874519"/>
            <a:ext cx="1874519" cy="3822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5CA8FF"/>
                </a:solidFill>
                <a:latin typeface="Arial"/>
              </a:rPr>
              <a:t>PORTABLE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5CA8FF"/>
                </a:solidFill>
                <a:latin typeface="Arial"/>
              </a:rPr>
              <a:t>EVIDENCE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5CA8FF"/>
                </a:solidFill>
                <a:latin typeface="Arial"/>
              </a:rPr>
              <a:t>BUNDLE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800" b="0">
                <a:solidFill>
                  <a:srgbClr val="F2F5F7"/>
                </a:solidFill>
                <a:latin typeface="Arial"/>
              </a:rPr>
              <a:t/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9DA9B5"/>
                </a:solidFill>
                <a:latin typeface="Arial"/>
              </a:rPr>
              <a:t>verified by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9DA9B5"/>
                </a:solidFill>
                <a:latin typeface="Arial"/>
              </a:rPr>
              <a:t>anyone,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9DA9B5"/>
                </a:solidFill>
                <a:latin typeface="Arial"/>
              </a:rPr>
              <a:t>offline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DA9B5"/>
                </a:solidFill>
                <a:latin typeface="Arial"/>
              </a:rPr>
              <a:t>Same verification grammar flows through every layer; interface maturity is labelled, not hidden.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THREE PROFILES, ONE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Same machinery across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5CA8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Arial"/>
              </a:rPr>
              <a:t>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document → risk claim → source quote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5CA8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Arial"/>
              </a:rPr>
              <a:t>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dataset → model → metric → 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5CA8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97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Arial"/>
              </a:rPr>
              <a:t>Coding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issue → tool call → diff → tests → commit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2628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1270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0561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Underneath, identical: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561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5CA8FF"/>
                </a:solidFill>
                <a:latin typeface="Arial"/>
              </a:rPr>
              <a:t>sequence  →  hash chain  →  signature  →  source 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THE KEY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Exact tamper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41148"/>
          </a:xfrm>
          <a:prstGeom prst="rect">
            <a:avLst/>
          </a:prstGeom>
          <a:solidFill>
            <a:srgbClr val="FF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2-3d-tamper-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783080"/>
            <a:ext cx="7315200" cy="4114800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1965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92938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Seq 3 — TAMPERED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the mutated Council-claims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88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8892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75234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Downstream 4, 5, 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NOT VERIFIED — chain invalidated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118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57530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Analytical correctness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NOT EVALUATED — not judged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52628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645152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9DA9B5"/>
                </a:solidFill>
                <a:latin typeface="Arial"/>
              </a:rPr>
              <a:t>Shadow reports: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first failed seq: 3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Arial"/>
              </a:rPr>
              <a:t>reason: prev_hash_mismatch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2C14E"/>
                </a:solidFill>
                <a:latin typeface="Arial"/>
              </a:rPr>
              <a:t>downstream: 4, 5,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9DA9B5"/>
                </a:solidFill>
                <a:latin typeface="Arial"/>
              </a:rPr>
              <a:t>Integrity failure does not determine analytical correctness — the two stay independent.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VERIFY THE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Can you trust the verifier page itself?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2-verifier-valid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6492240" cy="42148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74920" y="1783080"/>
            <a:ext cx="6492240" cy="4214884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580644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Arial"/>
              </a:rPr>
              <a:t>Real render — Verify-the-Verifier (fixture release key)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7510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Manifest signature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9806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Assets match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SIGNED MANIFEST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2102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Independent comparison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NOT PERFORMED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A page hashing itself is </a:t>
            </a:r>
            <a:r>
              <a:rPr sz="1300" b="1">
                <a:solidFill>
                  <a:srgbClr val="FF5F6D"/>
                </a:solidFill>
                <a:latin typeface="Arial"/>
              </a:rPr>
              <a:t>not independent trust</a:t>
            </a:r>
            <a:r>
              <a:rPr sz="1300" b="0">
                <a:solidFill>
                  <a:srgbClr val="F2F5F7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F2F5F7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9DA9B5"/>
                </a:solidFill>
                <a:latin typeface="Arial"/>
              </a:rPr>
              <a:t>Signing today is a </a:t>
            </a:r>
            <a:r>
              <a:rPr sz="1250" b="1">
                <a:solidFill>
                  <a:srgbClr val="F2C14E"/>
                </a:solidFill>
                <a:latin typeface="Arial"/>
              </a:rPr>
              <a:t>FIXTURE release key</a:t>
            </a:r>
            <a:r>
              <a:rPr sz="1250" b="0">
                <a:solidFill>
                  <a:srgbClr val="9DA9B5"/>
                </a:solidFill>
                <a:latin typeface="Arial"/>
              </a:rPr>
              <a:t>, not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SPATIAL AUDIT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3D for sequence, provenance, tamper propagation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2-3d-current-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257800" cy="29575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828800"/>
            <a:ext cx="5257800" cy="2957512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Arial"/>
              </a:rPr>
              <a:t>Arc layout — audit sequence</a:t>
            </a:r>
          </a:p>
        </p:txBody>
      </p:sp>
      <p:pic>
        <p:nvPicPr>
          <p:cNvPr id="9" name="Picture 8" descr="v2-3d-layered-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120640" cy="28803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828800"/>
            <a:ext cx="5120640" cy="2880360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1605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Arial"/>
              </a:rPr>
              <a:t>Layered DAG —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1">
                <a:solidFill>
                  <a:srgbClr val="5CA8FF"/>
                </a:solidFill>
                <a:latin typeface="Arial"/>
              </a:rPr>
              <a:t>THREE.JS REPLAY</a:t>
            </a:r>
            <a:r>
              <a:rPr sz="1100" b="0">
                <a:solidFill>
                  <a:srgbClr val="9DA9B5"/>
                </a:solidFill>
                <a:latin typeface="Arial"/>
              </a:rPr>
              <a:t>   browser-rendered · research prototype · 4 layouts + 2D fallback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1">
                <a:solidFill>
                  <a:srgbClr val="F2C14E"/>
                </a:solidFill>
                <a:latin typeface="Arial"/>
              </a:rPr>
              <a:t>UNITY SHADOW LENS</a:t>
            </a:r>
            <a:r>
              <a:rPr sz="1100" b="0">
                <a:solidFill>
                  <a:srgbClr val="9DA9B5"/>
                </a:solidFill>
                <a:latin typeface="Arial"/>
              </a:rPr>
              <a:t>   unity-authored · Android-built · device validation pending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SHARED 3D SCENE CONTRACT</a:t>
            </a:r>
            <a:r>
              <a:rPr sz="1100" b="0">
                <a:solidFill>
                  <a:srgbClr val="9DA9B5"/>
                </a:solidFill>
                <a:latin typeface="Arial"/>
              </a:rPr>
              <a:t>   authored + host-tested (shadow-3d-scene-v1)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26280"/>
            <a:ext cx="356616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52628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6B7480"/>
                </a:solidFill>
                <a:latin typeface="Arial"/>
              </a:rPr>
              <a:t>NOT EYE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983480"/>
            <a:ext cx="356616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98348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6B7480"/>
                </a:solidFill>
                <a:latin typeface="Arial"/>
              </a:rPr>
              <a:t>NO 6DoF ON MOCK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440680"/>
            <a:ext cx="356616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544068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6B7480"/>
                </a:solidFill>
                <a:latin typeface="Arial"/>
              </a:rPr>
              <a:t>NO USER STUDY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EVALUATION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Measured today — not inferred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2FD19A"/>
                </a:solidFill>
                <a:latin typeface="Arial"/>
              </a:rPr>
              <a:t>1,858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Arial"/>
              </a:rPr>
              <a:t>of 1,861 host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9DA9B5"/>
                </a:solidFill>
                <a:latin typeface="Arial"/>
              </a:rPr>
              <a:t>0 failed · 3 skipped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Arial"/>
              </a:rPr>
              <a:t>re-run 2026-07-21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Arial"/>
              </a:rPr>
              <a:t>(V1 said 1,824/1,827)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6995160" cy="10515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91440" cy="1051560"/>
          </a:xfrm>
          <a:prstGeom prst="rect">
            <a:avLst/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BROWSER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Arial"/>
              </a:rPr>
              <a:t>Chromium 149 · EN + 简体中文 · 0 external requests · 0 CSP violations · offline verify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72968"/>
            <a:ext cx="6995160" cy="10515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172968"/>
            <a:ext cx="91440" cy="105156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82696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ANDROID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Arial"/>
              </a:rPr>
              <a:t>APK built · 24.4 MB · SHA-256 recorded · NOT device-validated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379976"/>
            <a:ext cx="6995160" cy="10515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379976"/>
            <a:ext cx="91440" cy="105156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489704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SPATIAL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Arial"/>
              </a:rPr>
              <a:t>Three.js 4 layouts rendered + recorded · scene contract host-tested · no user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CURRENT STATE AND CAPSTONE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Accurate statuses, not blanket ‘pending’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20640" cy="37947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FD19A"/>
                </a:solidFill>
                <a:latin typeface="Arial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50" b="0">
                <a:solidFill>
                  <a:srgbClr val="F2F5F7"/>
                </a:solidFill>
                <a:latin typeface="Arial"/>
              </a:rPr>
              <a:t>Core evidence + hash-chain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50" b="0">
                <a:solidFill>
                  <a:srgbClr val="F2F5F7"/>
                </a:solidFill>
                <a:latin typeface="Arial"/>
              </a:rPr>
              <a:t>Claim–evidence graph (host-tested)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50" b="0">
                <a:solidFill>
                  <a:srgbClr val="F2F5F7"/>
                </a:solidFill>
                <a:latin typeface="Arial"/>
              </a:rPr>
              <a:t>Bilingual offline verifier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50" b="0">
                <a:solidFill>
                  <a:srgbClr val="F2F5F7"/>
                </a:solidFill>
                <a:latin typeface="Arial"/>
              </a:rPr>
              <a:t>Three explainers (audit-chain, reason-code, persona)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50" b="0">
                <a:solidFill>
                  <a:srgbClr val="F2F5F7"/>
                </a:solidFill>
                <a:latin typeface="Arial"/>
              </a:rPr>
              <a:t>3D scene contract — authored + host-tested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50" b="0">
                <a:solidFill>
                  <a:srgbClr val="F2F5F7"/>
                </a:solidFill>
                <a:latin typeface="Arial"/>
              </a:rPr>
              <a:t>Three.js 4-layout prototype · Android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120640" cy="37947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C14E"/>
                </a:solidFill>
                <a:latin typeface="Arial"/>
              </a:rPr>
              <a:t>NEXT — CAPSTONE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50" b="0">
                <a:solidFill>
                  <a:srgbClr val="F2F5F7"/>
                </a:solidFill>
                <a:latin typeface="Arial"/>
              </a:rPr>
              <a:t>Unity contract integration (pending)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50" b="0">
                <a:solidFill>
                  <a:srgbClr val="F2F5F7"/>
                </a:solidFill>
                <a:latin typeface="Arial"/>
              </a:rPr>
              <a:t>Beam Pro device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50" b="0">
                <a:solidFill>
                  <a:srgbClr val="F2F5F7"/>
                </a:solidFill>
                <a:latin typeface="Arial"/>
              </a:rPr>
              <a:t>XREAL native input / camera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50" b="0">
                <a:solidFill>
                  <a:srgbClr val="F2F5F7"/>
                </a:solidFill>
                <a:latin typeface="Arial"/>
              </a:rPr>
              <a:t>Device performance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50" b="0">
                <a:solidFill>
                  <a:srgbClr val="F2F5F7"/>
                </a:solidFill>
                <a:latin typeface="Arial"/>
              </a:rPr>
              <a:t>Spatial-vs-2D user study (RQ4)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50" b="0">
                <a:solidFill>
                  <a:srgbClr val="F2F5F7"/>
                </a:solidFill>
                <a:latin typeface="Arial"/>
              </a:rPr>
              <a:t>Production signing · KMS/HSM ·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9DA9B5"/>
                </a:solidFill>
                <a:latin typeface="Arial"/>
              </a:rPr>
              <a:t>Ingest audit: structural host-tested · semantic production evaluation pending — stated separately, not collapsed.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800" b="0">
                <a:solidFill>
                  <a:srgbClr val="9DA9B5"/>
                </a:solidFill>
                <a:latin typeface="Arial"/>
              </a:rPr>
              <a:t>Shadow does not ask an auditor to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800" b="0">
                <a:solidFill>
                  <a:srgbClr val="9DA9B5"/>
                </a:solidFill>
                <a:latin typeface="Arial"/>
              </a:rPr>
              <a:t>trust the AI’s answer.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F2F5F7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Arial"/>
              </a:rPr>
              <a:t>It gives them evidence they can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Arial"/>
              </a:rPr>
              <a:t>independently verify.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029200"/>
            <a:ext cx="164592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9DA9B5"/>
                </a:solidFill>
                <a:latin typeface="Arial"/>
              </a:rPr>
              <a:t>Sequence.  Sources.  Signatures.  Exact tamper location.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2FD19A"/>
                </a:solidFill>
                <a:latin typeface="Arial"/>
              </a:rPr>
              <a:t>Integrity — not correctness.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Arial"/>
              </a:rPr>
              <a:t>github.com/alex-jb/shadow-mentor    ·    Thank you — questions welcome.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B7480"/>
                </a:solidFill>
                <a:latin typeface="Arial"/>
              </a:rPr>
              <a:t>BACKUP ·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Capability ladder — nothing over-claimed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Evidence schema · hash chain · Ed25519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HOST-TESTED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Offline browser verifier (EN + zh-CN)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2860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BROWSER-RENDERED /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Verify-the-Verifier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2C14E"/>
                </a:solidFill>
                <a:latin typeface="Arial"/>
              </a:rPr>
              <a:t>FIXTURE-SIGNED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Claim–evidence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2004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HOST-TESTED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3D scene contract (shadow-3d-scene-v1)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6576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AUTHORED + HOST-TESTED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Three.js 4-layout 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1148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5CA8FF"/>
                </a:solidFill>
                <a:latin typeface="Arial"/>
              </a:rPr>
              <a:t>BROWSER-RENDERED · RESEARCH-PROTOTYPE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Unity Shadow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5720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2C14E"/>
                </a:solidFill>
                <a:latin typeface="Arial"/>
              </a:rPr>
              <a:t>UNITY-AUTHORED · DEVICE-PENDING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Android mock APK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0292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2C14E"/>
                </a:solidFill>
                <a:latin typeface="Arial"/>
              </a:rPr>
              <a:t>ANDROID-BUILT (not device-validated)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Ingest audit — structural / 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4864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5CA8FF"/>
                </a:solidFill>
                <a:latin typeface="Arial"/>
              </a:rPr>
              <a:t>HOST-TESTED / SOURCE-AUTHORED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Spatial comprehension benefit (RQ4)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9436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6B7480"/>
                </a:solidFill>
                <a:latin typeface="Arial"/>
              </a:rPr>
              <a:t>NOT IMPLEMENTED — no user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B7480"/>
                </a:solidFill>
                <a:latin typeface="Arial"/>
              </a:rPr>
              <a:t>BACKUP · CRYPTOGRAPHIC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What a valid signature does and does not 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FD19A"/>
                </a:solidFill>
                <a:latin typeface="Arial"/>
              </a:rPr>
              <a:t>ESTABLISHES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The bytes match the sealed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644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The chain is unbroken (or where it breaks)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3133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The batch root was signed by a known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982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Conformance to a domain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FF5F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5F6D"/>
                </a:solidFill>
                <a:latin typeface="Arial"/>
              </a:rPr>
              <a:t>DOES NOT ESTABLISH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the cited source was truthful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644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the conclusion is 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3133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signing is production-grade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982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any regulation mandates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B7480"/>
                </a:solidFill>
                <a:latin typeface="Arial"/>
              </a:rPr>
              <a:t>BACKUP ·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Stated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Evidence is fixture data; limited live-provider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Production signing not implemented (fixture release 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Device validation pending (Beam Pro); XREAL native not integrated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No completed user study — RQ4 spatial benefit unproven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No proof of source truth; no proof of analytical correctness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No production KMS/HSM, key rotation, or durable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No full PII-retention framework or incident-response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400" b="0">
                <a:solidFill>
                  <a:srgbClr val="F2F5F7"/>
                </a:solidFill>
                <a:latin typeface="Arial"/>
              </a:rPr>
              <a:t>Semantic ingest audit: production evaluation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B7480"/>
                </a:solidFill>
                <a:latin typeface="Arial"/>
              </a:rPr>
              <a:t>BACKUP · DEMO FALLBACK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Never depend on a live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91440" cy="749808"/>
          </a:xfrm>
          <a:prstGeom prst="rect">
            <a:avLst/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FD19A"/>
                </a:solidFill>
                <a:latin typeface="Arial"/>
              </a:rPr>
              <a:t>A · Live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serve verifier package locally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91440" cy="74980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5CA8FF"/>
                </a:solidFill>
                <a:latin typeface="Arial"/>
              </a:rPr>
              <a:t>B · Browser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9260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open the frozen offline package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840480"/>
            <a:ext cx="91440" cy="74980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C14E"/>
                </a:solidFill>
                <a:latin typeface="Arial"/>
              </a:rPr>
              <a:t>C · Recorded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8404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media/.../shadow-verify-full-demo.mp4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54880"/>
            <a:ext cx="91440" cy="749808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B7480"/>
                </a:solidFill>
                <a:latin typeface="Arial"/>
              </a:rPr>
              <a:t>D · Slide 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7548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embedded figures — one keystroke 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9DA9B5"/>
                </a:solidFill>
                <a:latin typeface="Arial"/>
              </a:rPr>
              <a:t>Decision rule: if the live app doesn’t come up cleanly in 20 seconds, drop to the recorded video and keep talking.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