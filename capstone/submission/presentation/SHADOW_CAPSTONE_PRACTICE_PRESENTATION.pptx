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Shadow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Cryptographically Verifiable Evidence and Spatial Audit System for AI-Assisted Decisions</a:t>
            </a:r>
            <a:br/>
            <a:br/>
            <a:r>
              <a:rPr/>
              <a:t>Alex Ji · M.S. Computer Science · Yeshiva University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Capstone in Computer Science I — Practice Presentation · 2026-07-21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Cryptographically Verifiable Evidence and Spatial Audit System for AI-Assisted Decisions</a:t>
            </a:r>
          </a:p>
          <a:p>
            <a:pPr lvl="0" indent="0" marL="0">
              <a:buNone/>
            </a:pPr>
            <a:r>
              <a:rPr i="1"/>
              <a:t>From Multi-Agent Answers to Independently Verifiable AI Decision Evidence</a:t>
            </a:r>
          </a:p>
          <a:p>
            <a:pPr lvl="0" indent="0" marL="0">
              <a:buNone/>
            </a:pPr>
            <a:r>
              <a:rPr/>
              <a:t>Alex Ji · M.S. Computer Science · Yeshiva University Capstone in Computer Science I — practice presentation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</a:t>
            </a:r>
            <a:r>
              <a:rPr b="1"/>
              <a:t>AI answer</a:t>
            </a:r>
            <a:r>
              <a:rPr/>
              <a:t> is not the same thing as </a:t>
            </a:r>
            <a:r>
              <a:rPr b="1"/>
              <a:t>verifiable evidence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gap, concretely:</a:t>
            </a:r>
          </a:p>
          <a:p>
            <a:pPr lvl="0"/>
            <a:r>
              <a:rPr b="1"/>
              <a:t>Source provenance</a:t>
            </a:r>
            <a:r>
              <a:rPr/>
              <a:t> — what did it actually rely on?</a:t>
            </a:r>
          </a:p>
          <a:p>
            <a:pPr lvl="0"/>
            <a:r>
              <a:rPr b="1"/>
              <a:t>Tool / model actions</a:t>
            </a:r>
            <a:r>
              <a:rPr/>
              <a:t> — what did it actually do?</a:t>
            </a:r>
          </a:p>
          <a:p>
            <a:pPr lvl="0"/>
            <a:r>
              <a:rPr b="1"/>
              <a:t>Tamper detection</a:t>
            </a:r>
            <a:r>
              <a:rPr/>
              <a:t> — was the record changed after the fact?</a:t>
            </a:r>
          </a:p>
          <a:p>
            <a:pPr lvl="0"/>
            <a:r>
              <a:rPr b="1"/>
              <a:t>Independent verification</a:t>
            </a:r>
            <a:r>
              <a:rPr/>
              <a:t> — can </a:t>
            </a:r>
            <a:r>
              <a:rPr i="1"/>
              <a:t>someone else</a:t>
            </a:r>
            <a:r>
              <a:rPr/>
              <a:t> check it, offline?</a:t>
            </a:r>
          </a:p>
          <a:p>
            <a:pPr lvl="0" indent="0" marL="0">
              <a:buNone/>
            </a:pPr>
            <a:r>
              <a:rPr/>
              <a:t>Ordinary logs are platform-specific and mutable. A model’s explanation is generated prose, not a record.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Project evolution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Orallexa</a:t>
            </a:r>
            <a:r>
              <a:rPr/>
              <a:t> → multi-agent decision support → </a:t>
            </a:r>
            <a:r>
              <a:rPr b="1"/>
              <a:t>Shadow</a:t>
            </a:r>
            <a:r>
              <a:rPr/>
              <a:t> → portable, verifiable evidence.</a:t>
            </a:r>
          </a:p>
          <a:p>
            <a:pPr lvl="0"/>
            <a:r>
              <a:rPr/>
              <a:t>Orallexa: several AI voices debated an answer. It worked.</a:t>
            </a:r>
          </a:p>
          <a:p>
            <a:pPr lvl="0"/>
            <a:r>
              <a:rPr/>
              <a:t>The lesson: </a:t>
            </a:r>
            <a:r>
              <a:rPr i="1"/>
              <a:t>more opinions is not more trust.</a:t>
            </a:r>
          </a:p>
          <a:p>
            <a:pPr lvl="0"/>
            <a:r>
              <a:rPr/>
              <a:t>Shadow keeps the analysis as a domain capability — but trust rests on the </a:t>
            </a:r>
            <a:r>
              <a:rPr b="1"/>
              <a:t>evidence layer beneath it</a:t>
            </a:r>
            <a:r>
              <a:rPr/>
              <a:t>, not on the voices above it.</a:t>
            </a:r>
          </a:p>
          <a:p>
            <a:pPr lvl="0" indent="0" marL="0">
              <a:buNone/>
            </a:pPr>
            <a:r>
              <a:rPr/>
              <a:t>A refinement of the research question, not a failure of the first one.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Shadow records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evidence lifecycle:</a:t>
            </a:r>
          </a:p>
          <a:p>
            <a:pPr lvl="0" indent="0" marL="0">
              <a:buNone/>
            </a:pPr>
            <a:r>
              <a:rPr b="1"/>
              <a:t>Source → Agent / Tool Action → Evidence Event → Hash Chain → Signature → Independent Verification</a:t>
            </a:r>
          </a:p>
          <a:p>
            <a:pPr lvl="0"/>
            <a:r>
              <a:rPr/>
              <a:t>Every event is structured and canonically serialized.</a:t>
            </a:r>
          </a:p>
          <a:p>
            <a:pPr lvl="0"/>
            <a:r>
              <a:rPr/>
              <a:t>Each event commits to the previous one (hash chain).</a:t>
            </a:r>
          </a:p>
          <a:p>
            <a:pPr lvl="0"/>
            <a:r>
              <a:rPr/>
              <a:t>The sealed batch root is signed (Ed25519).</a:t>
            </a:r>
          </a:p>
          <a:p>
            <a:pPr lvl="0"/>
            <a:r>
              <a:rPr/>
              <a:t>Anyone can verify the record — including offline.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Core</a:t>
            </a:r>
            <a:r>
              <a:rPr/>
              <a:t> — canonical evidence schema · signed hash-chain record · source maps · verifier · claim–evidence graph</a:t>
            </a:r>
          </a:p>
          <a:p>
            <a:pPr lvl="0" indent="0" marL="0">
              <a:buNone/>
            </a:pPr>
            <a:r>
              <a:rPr b="1"/>
              <a:t>Profiles</a:t>
            </a:r>
            <a:r>
              <a:rPr/>
              <a:t> — banking-v1 · data-science-v1 · coding-agent-v1</a:t>
            </a:r>
          </a:p>
          <a:p>
            <a:pPr lvl="0" indent="0" marL="0">
              <a:buNone/>
            </a:pPr>
            <a:r>
              <a:rPr b="1"/>
              <a:t>Interfaces</a:t>
            </a:r>
            <a:r>
              <a:rPr/>
              <a:t> — CLI · MCP (11 tools) · HTTP · browser </a:t>
            </a:r>
            <a:r>
              <a:rPr>
                <a:latin typeface="Courier"/>
              </a:rPr>
              <a:t>verify.html</a:t>
            </a:r>
            <a:r>
              <a:rPr/>
              <a:t> · Unity Shadow Lens · Three.js replay</a:t>
            </a:r>
          </a:p>
          <a:p>
            <a:pPr lvl="0" indent="0" marL="0">
              <a:buNone/>
            </a:pPr>
            <a:r>
              <a:rPr i="1"/>
              <a:t>Interfaces are of different maturity — the deck says which is which.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profiles, one grammar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→ action →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Banking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→ risk claim → source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 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→ model → metric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Coding Agent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 → diff → tests → commit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verification grammar underneath: sequence, hash chain, signature, source resolution.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Tamper demonstration ⟵ the key moment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Pristine → change one earlier event → </a:t>
            </a:r>
            <a:r>
              <a:rPr b="1"/>
              <a:t>first failure</a:t>
            </a:r>
            <a:r>
              <a:rPr/>
              <a:t> → downstream impact.</a:t>
            </a:r>
          </a:p>
          <a:p>
            <a:pPr lvl="0"/>
            <a:r>
              <a:rPr/>
              <a:t>The verifier reports the </a:t>
            </a:r>
            <a:r>
              <a:rPr b="1"/>
              <a:t>exact first failed sequence</a:t>
            </a:r>
            <a:r>
              <a:rPr/>
              <a:t> — the earliest event whose hash no longer matches.</a:t>
            </a:r>
          </a:p>
          <a:p>
            <a:pPr lvl="0"/>
            <a:r>
              <a:rPr b="1"/>
              <a:t>Everything after it is invalidated</a:t>
            </a:r>
            <a:r>
              <a:rPr/>
              <a:t> — the signature covered a chain that no longer exists.</a:t>
            </a:r>
          </a:p>
          <a:p>
            <a:pPr lvl="0"/>
            <a:r>
              <a:rPr/>
              <a:t>Integrity, signature, and </a:t>
            </a:r>
            <a:r>
              <a:rPr i="1"/>
              <a:t>correctness</a:t>
            </a:r>
            <a:r>
              <a:rPr/>
              <a:t> stay </a:t>
            </a:r>
            <a:r>
              <a:rPr b="1"/>
              <a:t>separate</a:t>
            </a:r>
            <a:r>
              <a:rPr/>
              <a:t> statuses, even in failure.</a:t>
            </a:r>
          </a:p>
          <a:p>
            <a:pPr lvl="0" indent="0" marL="0">
              <a:buNone/>
            </a:pPr>
            <a:r>
              <a:rPr i="1"/>
              <a:t>This is the strongest thing to show live.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Verifier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you trust the verifier page itself?</a:t>
            </a:r>
          </a:p>
          <a:p>
            <a:pPr lvl="0"/>
            <a:r>
              <a:rPr/>
              <a:t>It carries a </a:t>
            </a:r>
            <a:r>
              <a:rPr b="1"/>
              <a:t>signed fixture manifest</a:t>
            </a:r>
            <a:r>
              <a:rPr/>
              <a:t>: </a:t>
            </a:r>
            <a:r>
              <a:rPr>
                <a:latin typeface="Courier"/>
              </a:rPr>
              <a:t>ASSETS MATCH SIGNED MANIFEST</a:t>
            </a:r>
            <a:r>
              <a:rPr/>
              <a:t>.</a:t>
            </a:r>
          </a:p>
          <a:p>
            <a:pPr lvl="0"/>
            <a:r>
              <a:rPr/>
              <a:t>Independent trust needs an </a:t>
            </a:r>
            <a:r>
              <a:rPr b="1"/>
              <a:t>out-of-band</a:t>
            </a:r>
            <a:r>
              <a:rPr/>
              <a:t> check: asset hashes vs. a manifest from a separate channel, and the release-key </a:t>
            </a:r>
            <a:r>
              <a:rPr b="1"/>
              <a:t>fingerprint</a:t>
            </a:r>
            <a:r>
              <a:rPr/>
              <a:t> compared independently — reported as </a:t>
            </a:r>
            <a:r>
              <a:rPr>
                <a:latin typeface="Courier"/>
              </a:rPr>
              <a:t>INDEPENDENT COMPARISON NOT PERFORMED</a:t>
            </a:r>
            <a:r>
              <a:rPr/>
              <a:t>.</a:t>
            </a:r>
          </a:p>
          <a:p>
            <a:pPr lvl="0"/>
            <a:r>
              <a:rPr b="1"/>
              <a:t>A page hashing itself is not trust</a:t>
            </a:r>
            <a:r>
              <a:rPr/>
              <a:t> — and Shadow says so, on the page.</a:t>
            </a:r>
          </a:p>
          <a:p>
            <a:pPr lvl="0" indent="0" marL="0">
              <a:buNone/>
            </a:pPr>
            <a:r>
              <a:rPr i="1"/>
              <a:t>Current signing is fixture, not production.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spatial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Unity </a:t>
            </a:r>
            <a:r>
              <a:rPr b="1"/>
              <a:t>Shadow Lens</a:t>
            </a:r>
            <a:r>
              <a:rPr/>
              <a:t> + Three.js replay — 3D is for </a:t>
            </a:r>
            <a:r>
              <a:rPr b="1"/>
              <a:t>sequence, provenance, and tamper replay</a:t>
            </a:r>
            <a:r>
              <a:rPr/>
              <a:t>.</a:t>
            </a:r>
          </a:p>
          <a:p>
            <a:pPr lvl="0"/>
            <a:r>
              <a:rPr/>
              <a:t>Three workspaces; provenance audit arc; Verify / Tamper / Reset.</a:t>
            </a:r>
          </a:p>
          <a:p>
            <a:pPr lvl="0"/>
            <a:r>
              <a:rPr b="1"/>
              <a:t>Head-directed focus</a:t>
            </a:r>
            <a:r>
              <a:rPr/>
              <a:t> (gaze interactor) — hover only. </a:t>
            </a:r>
            <a:r>
              <a:rPr i="1"/>
              <a:t>Not eye tracking. No RGB. No 6DoF on the mock.</a:t>
            </a:r>
          </a:p>
          <a:p>
            <a:pPr lvl="0"/>
            <a:r>
              <a:rPr/>
              <a:t>Android </a:t>
            </a:r>
            <a:r>
              <a:rPr b="1"/>
              <a:t>mock APK is built</a:t>
            </a:r>
            <a:r>
              <a:rPr/>
              <a:t> (24.4 MB, hashed). </a:t>
            </a:r>
            <a:r>
              <a:rPr b="1"/>
              <a:t>Beam Pro / XREAL device validation is pending.</a:t>
            </a:r>
          </a:p>
          <a:p>
            <a:pPr lvl="0"/>
            <a:r>
              <a:rPr/>
              <a:t>A precise </a:t>
            </a:r>
            <a:r>
              <a:rPr b="1"/>
              <a:t>2D fallback</a:t>
            </a:r>
            <a:r>
              <a:rPr/>
              <a:t> always remains.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1,824 / 1,827 host tests pass</a:t>
            </a:r>
            <a:r>
              <a:rPr/>
              <a:t> (0 fail, 3 env-gated skips), re-run 2026-07-21.</a:t>
            </a:r>
          </a:p>
          <a:p>
            <a:pPr lvl="0"/>
            <a:r>
              <a:rPr b="1"/>
              <a:t>Browser acceptance</a:t>
            </a:r>
            <a:r>
              <a:rPr/>
              <a:t>: Chromium 149 (Playwright), EN + 简体中文, 8 flows, CSP </a:t>
            </a:r>
            <a:r>
              <a:rPr b="1"/>
              <a:t>0 external / 0 violations</a:t>
            </a:r>
            <a:r>
              <a:rPr/>
              <a:t>, offline verify — real screenshots.</a:t>
            </a:r>
          </a:p>
          <a:p>
            <a:pPr lvl="0"/>
            <a:r>
              <a:rPr b="1"/>
              <a:t>Android</a:t>
            </a:r>
            <a:r>
              <a:rPr/>
              <a:t>: mock APK </a:t>
            </a:r>
            <a:r>
              <a:rPr b="1"/>
              <a:t>built</a:t>
            </a:r>
            <a:r>
              <a:rPr/>
              <a:t> (24,442,084 B, SHA-256 </a:t>
            </a:r>
            <a:r>
              <a:rPr>
                <a:latin typeface="Courier"/>
              </a:rPr>
              <a:t>93f2a81a…</a:t>
            </a:r>
            <a:r>
              <a:rPr/>
              <a:t>). </a:t>
            </a:r>
            <a:r>
              <a:rPr i="1"/>
              <a:t>Built, not device-validated.</a:t>
            </a:r>
          </a:p>
          <a:p>
            <a:pPr lvl="0"/>
            <a:r>
              <a:rPr/>
              <a:t>Three.js: 4 layouts rendered + recorded. </a:t>
            </a:r>
            <a:r>
              <a:rPr b="1"/>
              <a:t>No user study yet.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stands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Implemented now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Pending next (Capstone II)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evidence + hash chain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Beam Pro / XREAL device 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Independent + offline verification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Unity/Three.js scene contract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 tamper localization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 study (does 3D actually help?)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Bilingual verifier (EN / zh-CN)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Semantic audit of ingested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Android mock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Production signing · KMS/HSM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Fixture-signed · device-pending · no correctness claim — stated honestly.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Shadow does </a:t>
            </a:r>
            <a:r>
              <a:rPr b="1"/>
              <a:t>not</a:t>
            </a:r>
            <a:r>
              <a:rPr/>
              <a:t> ask the auditor to trust the AI’s answer.</a:t>
            </a:r>
          </a:p>
          <a:p>
            <a:pPr lvl="0" indent="0" marL="0">
              <a:buNone/>
            </a:pPr>
            <a:r>
              <a:rPr b="1"/>
              <a:t>It gives the auditor evidence that can be independently verified</a:t>
            </a:r>
            <a:r>
              <a:rPr/>
              <a:t> — the sequence, the sources, the signature, and, if it was tampered with, the exact point where the record breaks.</a:t>
            </a:r>
          </a:p>
          <a:p>
            <a:pPr lvl="0" indent="0" marL="0">
              <a:buNone/>
            </a:pPr>
            <a:r>
              <a:rPr/>
              <a:t>And it draws a firm line: </a:t>
            </a:r>
            <a:r>
              <a:rPr b="1"/>
              <a:t>integrity, not correctness.</a:t>
            </a:r>
          </a:p>
          <a:p>
            <a:pPr lvl="0" indent="0" marL="0">
              <a:buNone/>
            </a:pPr>
            <a:r>
              <a:rPr i="1"/>
              <a:t>Thank you — questions welcome.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Shadow</dc:title>
  <dc:creator>Alex Ji · M.S. Computer Science · Yeshiva University</dc:creator>
  <cp:keywords/>
  <dcterms:created xsi:type="dcterms:W3CDTF">2026-07-21T21:02:47Z</dcterms:created>
  <dcterms:modified xsi:type="dcterms:W3CDTF">2026-07-21T21:02:47Z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Capstone in Computer Science I — Practice Presentation · 2026-07-21</vt:lpwstr>
  </property>
  <property fmtid="{D5CDD505-2E9C-101B-9397-08002B2CF9AE}" pid="3" name="subtitle">
    <vt:lpwstr>A Cryptographically Verifiable Evidence and Spatial Audit System for AI-Assisted Decisions</vt:lpwstr>
  </property>
</Properties>
</file>