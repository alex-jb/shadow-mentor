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9FB6D6"/>
                </a:solidFill>
                <a:latin typeface="Arial"/>
              </a:rPr>
              <a:t>CAPSTONE IN COMPUTER SCIENCE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Shadow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0">
                <a:solidFill>
                  <a:srgbClr val="E7ECF5"/>
                </a:solidFill>
                <a:latin typeface="Arial"/>
              </a:rPr>
              <a:t>A Cryptographically Verifiable Evidence and Spatial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0">
                <a:solidFill>
                  <a:srgbClr val="E7ECF5"/>
                </a:solidFill>
                <a:latin typeface="Arial"/>
              </a:rPr>
              <a:t>Audit System for AI-Assisted 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617720"/>
            <a:ext cx="1828800" cy="4114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9FB6D6"/>
                </a:solidFill>
                <a:latin typeface="Arial"/>
              </a:rPr>
              <a:t>From Multi-Agent Answers to Independently Verifiable AI Decision Evidence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E7ECF5"/>
                </a:solidFill>
                <a:latin typeface="Arial"/>
              </a:rPr>
              <a:t>Alex Ji   ·   M.S. Computer Science   ·   Yeshiva University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8A9CBE"/>
                </a:solidFill>
                <a:latin typeface="Arial"/>
              </a:rPr>
              <a:t>Practice presentation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A4D8F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1A1A2E"/>
                </a:solidFill>
                <a:latin typeface="Arial"/>
              </a:rPr>
              <a:t>An AI answer is not verifiable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5875">
            <a:solidFill>
              <a:srgbClr val="1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108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A4D8F"/>
                </a:solidFill>
                <a:latin typeface="Arial"/>
              </a:rPr>
              <a:t>AI ANSWER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5556E"/>
                </a:solidFill>
                <a:latin typeface="Arial"/>
              </a:rPr>
              <a:t>“Approve the loan.”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965960"/>
            <a:ext cx="10972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5400" b="1">
                <a:solidFill>
                  <a:srgbClr val="C0392B"/>
                </a:solidFill>
                <a:latin typeface="Arial"/>
              </a:rPr>
              <a:t>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9659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5875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965960"/>
            <a:ext cx="3108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0A7D43"/>
                </a:solidFill>
                <a:latin typeface="Arial"/>
              </a:rPr>
              <a:t>VERIFIABLE EVIDENCE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5556E"/>
                </a:solidFill>
                <a:latin typeface="Arial"/>
              </a:rPr>
              <a:t>checkable by someone else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55556E"/>
                </a:solidFill>
                <a:latin typeface="Arial"/>
              </a:rPr>
              <a:t>Ordinary logs are mutable and platform-specific. A model’s explanation is generated prose, not a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343400"/>
            <a:ext cx="2514600" cy="15544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D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4590288"/>
            <a:ext cx="457200" cy="45720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718304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Arial"/>
              </a:rPr>
              <a:t>Source provenance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56E"/>
                </a:solidFill>
                <a:latin typeface="Arial"/>
              </a:rPr>
              <a:t>what did it rely 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4343400"/>
            <a:ext cx="2514600" cy="15544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D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4590288"/>
            <a:ext cx="457200" cy="45720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67328" y="4718304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Arial"/>
              </a:rPr>
              <a:t>Tool / model actions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56E"/>
                </a:solidFill>
                <a:latin typeface="Arial"/>
              </a:rPr>
              <a:t>what did it actually do?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343400"/>
            <a:ext cx="2514600" cy="15544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D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10528" y="4590288"/>
            <a:ext cx="457200" cy="45720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718304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Arial"/>
              </a:rPr>
              <a:t>Tamper detection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56E"/>
                </a:solidFill>
                <a:latin typeface="Arial"/>
              </a:rPr>
              <a:t>was it changed after the fact?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4343400"/>
            <a:ext cx="2514600" cy="15544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D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3728" y="4590288"/>
            <a:ext cx="457200" cy="45720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4718304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Arial"/>
              </a:rPr>
              <a:t>Independent check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56E"/>
                </a:solidFill>
                <a:latin typeface="Arial"/>
              </a:rPr>
              <a:t>can someone else verify it, offline?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Shadow · Capstone I · Alex Ji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A4D8F"/>
                </a:solidFill>
                <a:latin typeface="Arial"/>
              </a:rPr>
              <a:t>PROJECT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1A1A2E"/>
                </a:solidFill>
                <a:latin typeface="Arial"/>
              </a:rPr>
              <a:t>From more opinions to verifiable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200400" cy="173736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9050">
            <a:solidFill>
              <a:srgbClr val="1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>
                <a:solidFill>
                  <a:srgbClr val="1A4D8F"/>
                </a:solidFill>
                <a:latin typeface="Arial"/>
              </a:rPr>
              <a:t>Orallexa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5556E"/>
                </a:solidFill>
                <a:latin typeface="Arial"/>
              </a:rPr>
              <a:t>multi-agent debate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5556E"/>
                </a:solidFill>
                <a:latin typeface="Arial"/>
              </a:rPr>
              <a:t>(bull · bear · judge)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468880"/>
            <a:ext cx="502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8A8A99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468880"/>
            <a:ext cx="3200400" cy="173736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905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651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>
                <a:solidFill>
                  <a:srgbClr val="B7791F"/>
                </a:solidFill>
                <a:latin typeface="Arial"/>
              </a:rPr>
              <a:t>The lesson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2004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5556E"/>
                </a:solidFill>
                <a:latin typeface="Arial"/>
              </a:rPr>
              <a:t>more opinions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5556E"/>
                </a:solidFill>
                <a:latin typeface="Arial"/>
              </a:rPr>
              <a:t>≠ more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468880"/>
            <a:ext cx="502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8A8A99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468880"/>
            <a:ext cx="3200400" cy="17373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9050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>
                <a:solidFill>
                  <a:srgbClr val="0A7D43"/>
                </a:solidFill>
                <a:latin typeface="Arial"/>
              </a:rPr>
              <a:t>Shadow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2004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5556E"/>
                </a:solidFill>
                <a:latin typeface="Arial"/>
              </a:rPr>
              <a:t>portable, verifiable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5556E"/>
                </a:solidFill>
                <a:latin typeface="Arial"/>
              </a:rPr>
              <a:t>evidence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Arial"/>
              </a:rPr>
              <a:t>Trust moved </a:t>
            </a:r>
            <a:r>
              <a:rPr sz="1600" b="1">
                <a:solidFill>
                  <a:srgbClr val="1A4D8F"/>
                </a:solidFill>
                <a:latin typeface="Arial"/>
              </a:rPr>
              <a:t>down a layer</a:t>
            </a:r>
            <a:r>
              <a:rPr sz="1600" b="0">
                <a:solidFill>
                  <a:srgbClr val="1A1A2E"/>
                </a:solidFill>
                <a:latin typeface="Arial"/>
              </a:rPr>
              <a:t> — to the evidence underneath, not the voices on top.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0">
                <a:solidFill>
                  <a:srgbClr val="55556E"/>
                </a:solidFill>
                <a:latin typeface="Arial"/>
              </a:rPr>
              <a:t>A refinement of the original research question, not a project that failed.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Shadow · Capstone I · Alex Ji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A4D8F"/>
                </a:solidFill>
                <a:latin typeface="Arial"/>
              </a:rPr>
              <a:t>WHAT SHADOW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1A1A2E"/>
                </a:solidFill>
                <a:latin typeface="Arial"/>
              </a:rPr>
              <a:t>The evidence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651760"/>
            <a:ext cx="1627632" cy="1234440"/>
          </a:xfrm>
          <a:prstGeom prst="roundRect">
            <a:avLst>
              <a:gd name="adj" fmla="val 8000"/>
            </a:avLst>
          </a:prstGeom>
          <a:solidFill>
            <a:srgbClr val="F4F4F0"/>
          </a:solidFill>
          <a:ln w="19050">
            <a:solidFill>
              <a:srgbClr val="55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651760"/>
            <a:ext cx="1627632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5556E"/>
                </a:solidFill>
                <a:latin typeface="Arial"/>
              </a:rPr>
              <a:t>Source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04288" y="3127248"/>
            <a:ext cx="186537" cy="292608"/>
          </a:xfrm>
          <a:prstGeom prst="rightArrow">
            <a:avLst/>
          </a:prstGeom>
          <a:solidFill>
            <a:srgbClr val="DD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09113" y="2651760"/>
            <a:ext cx="1627632" cy="1234440"/>
          </a:xfrm>
          <a:prstGeom prst="roundRect">
            <a:avLst>
              <a:gd name="adj" fmla="val 8000"/>
            </a:avLst>
          </a:prstGeom>
          <a:solidFill>
            <a:srgbClr val="F4F4F0"/>
          </a:solidFill>
          <a:ln w="19050">
            <a:solidFill>
              <a:srgbClr val="55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9113" y="2651760"/>
            <a:ext cx="1627632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5556E"/>
                </a:solidFill>
                <a:latin typeface="Arial"/>
              </a:rPr>
              <a:t>Agent /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5556E"/>
                </a:solidFill>
                <a:latin typeface="Arial"/>
              </a:rPr>
              <a:t>Tool Action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55033" y="3127248"/>
            <a:ext cx="186537" cy="292608"/>
          </a:xfrm>
          <a:prstGeom prst="rightArrow">
            <a:avLst/>
          </a:prstGeom>
          <a:solidFill>
            <a:srgbClr val="DD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9859" y="2651760"/>
            <a:ext cx="1627632" cy="123444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9050">
            <a:solidFill>
              <a:srgbClr val="1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9859" y="2651760"/>
            <a:ext cx="1627632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A4D8F"/>
                </a:solidFill>
                <a:latin typeface="Arial"/>
              </a:rPr>
              <a:t>Evidence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A4D8F"/>
                </a:solidFill>
                <a:latin typeface="Arial"/>
              </a:rPr>
              <a:t>Event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05779" y="3127248"/>
            <a:ext cx="186537" cy="292608"/>
          </a:xfrm>
          <a:prstGeom prst="rightArrow">
            <a:avLst/>
          </a:prstGeom>
          <a:solidFill>
            <a:srgbClr val="DD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0604" y="2651760"/>
            <a:ext cx="1627632" cy="123444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9050">
            <a:solidFill>
              <a:srgbClr val="1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604" y="2651760"/>
            <a:ext cx="1627632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A4D8F"/>
                </a:solidFill>
                <a:latin typeface="Arial"/>
              </a:rPr>
              <a:t>Hash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A4D8F"/>
                </a:solidFill>
                <a:latin typeface="Arial"/>
              </a:rPr>
              <a:t>Chain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56524" y="3127248"/>
            <a:ext cx="186537" cy="292608"/>
          </a:xfrm>
          <a:prstGeom prst="rightArrow">
            <a:avLst/>
          </a:prstGeom>
          <a:solidFill>
            <a:srgbClr val="DD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1350" y="2651760"/>
            <a:ext cx="1627632" cy="123444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9050">
            <a:solidFill>
              <a:srgbClr val="1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1350" y="2651760"/>
            <a:ext cx="1627632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A4D8F"/>
                </a:solidFill>
                <a:latin typeface="Arial"/>
              </a:rPr>
              <a:t>Signature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707270" y="3127248"/>
            <a:ext cx="186537" cy="292608"/>
          </a:xfrm>
          <a:prstGeom prst="rightArrow">
            <a:avLst/>
          </a:prstGeom>
          <a:solidFill>
            <a:srgbClr val="DD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12096" y="2651760"/>
            <a:ext cx="1627632" cy="123444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9050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12096" y="2651760"/>
            <a:ext cx="1627632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0A7D43"/>
                </a:solidFill>
                <a:latin typeface="Arial"/>
              </a:rPr>
              <a:t>Independent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0A7D43"/>
                </a:solidFill>
                <a:latin typeface="Arial"/>
              </a:rP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1A1A2E"/>
                </a:solidFill>
                <a:latin typeface="Arial"/>
              </a:rPr>
              <a:t>•  Each event is structured and canonically serialized.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1A1A2E"/>
                </a:solidFill>
                <a:latin typeface="Arial"/>
              </a:rPr>
              <a:t>•  Each event commits to the previous one — change an early event, everything after it </a:t>
            </a:r>
            <a:r>
              <a:rPr sz="1500" b="1">
                <a:solidFill>
                  <a:srgbClr val="C0392B"/>
                </a:solidFill>
                <a:latin typeface="Arial"/>
              </a:rPr>
              <a:t>breaks</a:t>
            </a:r>
            <a:r>
              <a:rPr sz="1500" b="0">
                <a:solidFill>
                  <a:srgbClr val="1A1A2E"/>
                </a:solidFill>
                <a:latin typeface="Arial"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1A1A2E"/>
                </a:solidFill>
                <a:latin typeface="Arial"/>
              </a:rPr>
              <a:t>•  The sealed batch root is signed (Ed25519). Anyone can verify the record — </a:t>
            </a:r>
            <a:r>
              <a:rPr sz="1500" b="1">
                <a:solidFill>
                  <a:srgbClr val="1A4D8F"/>
                </a:solidFill>
                <a:latin typeface="Arial"/>
              </a:rPr>
              <a:t>including offline</a:t>
            </a:r>
            <a:r>
              <a:rPr sz="1500" b="0">
                <a:solidFill>
                  <a:srgbClr val="1A1A2E"/>
                </a:solidFill>
                <a:latin typeface="Arial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Shadow · Capstone I · Alex Ji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A4D8F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1A1A2E"/>
                </a:solidFill>
                <a:latin typeface="Arial"/>
              </a:rPr>
              <a:t>One core, three profiles, many surfaces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10515600" cy="123444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5875">
            <a:solidFill>
              <a:srgbClr val="1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29968"/>
            <a:ext cx="2468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A4D8F"/>
                </a:solidFill>
                <a:latin typeface="Arial"/>
              </a:rPr>
              <a:t>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048256"/>
            <a:ext cx="6583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A1A2E"/>
                </a:solidFill>
                <a:latin typeface="Arial"/>
              </a:rPr>
              <a:t>canonical evidence schema  ·  signed hash-chain record  ·  source maps
verifier  ·  claim–evidence graph  ·  ingested-output audit (structural)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816352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8A8A99"/>
                </a:solidFill>
                <a:latin typeface="Arial"/>
              </a:rPr>
              <a:t>host-tested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37560"/>
            <a:ext cx="10515600" cy="1234440"/>
          </a:xfrm>
          <a:prstGeom prst="roundRect">
            <a:avLst>
              <a:gd name="adj" fmla="val 8000"/>
            </a:avLst>
          </a:prstGeom>
          <a:solidFill>
            <a:srgbClr val="F4F4F0"/>
          </a:solidFill>
          <a:ln w="15875">
            <a:solidFill>
              <a:srgbClr val="55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47288"/>
            <a:ext cx="2468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55556E"/>
                </a:solidFill>
                <a:latin typeface="Arial"/>
              </a:rPr>
              <a:t>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465576"/>
            <a:ext cx="6583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A1A2E"/>
                </a:solidFill>
                <a:latin typeface="Arial"/>
              </a:rPr>
              <a:t>banking-v1     ·     data-science-v1     ·     coding-agent-v1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233672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8A8A99"/>
                </a:solidFill>
                <a:latin typeface="Arial"/>
              </a:rPr>
              <a:t>one verification grammar across domains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54880"/>
            <a:ext cx="10515600" cy="123444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5875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64608"/>
            <a:ext cx="2468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0A7D43"/>
                </a:solidFill>
                <a:latin typeface="Arial"/>
              </a:rPr>
              <a:t>INTERFACES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882896"/>
            <a:ext cx="6583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A1A2E"/>
                </a:solidFill>
                <a:latin typeface="Arial"/>
              </a:rPr>
              <a:t>CLI  ·  MCP (11 tools)  ·  HTTP  ·  browser verify.html   |   Unity Shadow Lens  ·  Three.js replay  ·  Android mock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650992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8A8A99"/>
                </a:solidFill>
                <a:latin typeface="Arial"/>
              </a:rPr>
              <a:t>verifier: browser-rendered  ·  Unity/3D: prototypes, device-validation 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533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55556E"/>
                </a:solidFill>
                <a:latin typeface="Arial"/>
              </a:rPr>
              <a:t>Interfaces are </a:t>
            </a:r>
            <a:r>
              <a:rPr sz="1200" b="1">
                <a:solidFill>
                  <a:srgbClr val="C0392B"/>
                </a:solidFill>
                <a:latin typeface="Arial"/>
              </a:rPr>
              <a:t>not</a:t>
            </a:r>
            <a:r>
              <a:rPr sz="1200" b="0">
                <a:solidFill>
                  <a:srgbClr val="55556E"/>
                </a:solidFill>
                <a:latin typeface="Arial"/>
              </a:rPr>
              <a:t> equally mature — the deck labels which is which.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Shadow · Capstone I · Alex Ji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A4D8F"/>
                </a:solidFill>
                <a:latin typeface="Arial"/>
              </a:rPr>
              <a:t>THREE PROFILES, ONE 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1A1A2E"/>
                </a:solidFill>
                <a:latin typeface="Arial"/>
              </a:rPr>
              <a:t>Same machinery across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2926080" cy="86868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5875">
            <a:solidFill>
              <a:srgbClr val="1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926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1A4D8F"/>
                </a:solidFill>
                <a:latin typeface="Arial"/>
              </a:rPr>
              <a:t>Banking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011680"/>
            <a:ext cx="7406640" cy="8686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D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2011680"/>
            <a:ext cx="7040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Arial"/>
              </a:rPr>
              <a:t>document → risk claim →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63240"/>
            <a:ext cx="2926080" cy="86868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5875">
            <a:solidFill>
              <a:srgbClr val="1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926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1A4D8F"/>
                </a:solidFill>
                <a:latin typeface="Arial"/>
              </a:rPr>
              <a:t>Data Science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3063240"/>
            <a:ext cx="7406640" cy="8686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D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3063240"/>
            <a:ext cx="7040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Arial"/>
              </a:rPr>
              <a:t>dataset → model → metric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14800"/>
            <a:ext cx="2926080" cy="86868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5875">
            <a:solidFill>
              <a:srgbClr val="1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2926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1A4D8F"/>
                </a:solidFill>
                <a:latin typeface="Arial"/>
              </a:rPr>
              <a:t>Coding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4114800"/>
            <a:ext cx="7406640" cy="8686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D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4114800"/>
            <a:ext cx="7040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Arial"/>
              </a:rPr>
              <a:t>issue → diff → tests → commit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492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49240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A1A2E"/>
                </a:solidFill>
                <a:latin typeface="Arial"/>
              </a:rPr>
              <a:t>Underneath, the same verification grammar: </a:t>
            </a:r>
            <a:r>
              <a:rPr sz="1500" b="1">
                <a:solidFill>
                  <a:srgbClr val="1A4D8F"/>
                </a:solidFill>
                <a:latin typeface="Arial"/>
              </a:rPr>
              <a:t>sequence → hash chain → signature → source resolution.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Shadow · Capstone I · Alex Ji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Arial"/>
              </a:rPr>
              <a:t>THE KEY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1A1A2E"/>
                </a:solidFill>
                <a:latin typeface="Arial"/>
              </a:rPr>
              <a:t>Tamper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0A7D43"/>
                </a:solidFill>
                <a:latin typeface="Arial"/>
              </a:rPr>
              <a:t>PRISTINE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9050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0A7D43"/>
                </a:solidFill>
                <a:latin typeface="Arial"/>
              </a:rPr>
              <a:t>seq 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450592"/>
            <a:ext cx="320040" cy="73152"/>
          </a:xfrm>
          <a:prstGeom prst="rect">
            <a:avLst/>
          </a:prstGeom>
          <a:solidFill>
            <a:srgbClr val="0A7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06040" y="21488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9050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21488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0A7D43"/>
                </a:solidFill>
                <a:latin typeface="Arial"/>
              </a:rPr>
              <a:t>seq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2450592"/>
            <a:ext cx="320040" cy="73152"/>
          </a:xfrm>
          <a:prstGeom prst="rect">
            <a:avLst/>
          </a:prstGeom>
          <a:solidFill>
            <a:srgbClr val="0A7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21488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9050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1488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0A7D43"/>
                </a:solidFill>
                <a:latin typeface="Arial"/>
              </a:rPr>
              <a:t>seq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450592"/>
            <a:ext cx="320040" cy="73152"/>
          </a:xfrm>
          <a:prstGeom prst="rect">
            <a:avLst/>
          </a:prstGeom>
          <a:solidFill>
            <a:srgbClr val="0A7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21488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9050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1488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0A7D43"/>
                </a:solidFill>
                <a:latin typeface="Arial"/>
              </a:rPr>
              <a:t>seq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2450592"/>
            <a:ext cx="320040" cy="73152"/>
          </a:xfrm>
          <a:prstGeom prst="rect">
            <a:avLst/>
          </a:prstGeom>
          <a:solidFill>
            <a:srgbClr val="0A7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55279" y="21488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9050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21488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0A7D43"/>
                </a:solidFill>
                <a:latin typeface="Arial"/>
              </a:rPr>
              <a:t>seq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19" y="2450592"/>
            <a:ext cx="320040" cy="73152"/>
          </a:xfrm>
          <a:prstGeom prst="rect">
            <a:avLst/>
          </a:prstGeom>
          <a:solidFill>
            <a:srgbClr val="0A7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38360" y="21488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9050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21488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0A7D43"/>
                </a:solidFill>
                <a:latin typeface="Arial"/>
              </a:rPr>
              <a:t>seq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1546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Arial"/>
              </a:rPr>
              <a:t>TAMPERED — one field changed at seq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5204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9050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5204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0A7D43"/>
                </a:solidFill>
                <a:latin typeface="Arial"/>
              </a:rPr>
              <a:t>seq 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3822191"/>
            <a:ext cx="320040" cy="73152"/>
          </a:xfrm>
          <a:prstGeom prst="rect">
            <a:avLst/>
          </a:prstGeom>
          <a:solidFill>
            <a:srgbClr val="0A7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06040" y="35204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9050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35204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0A7D43"/>
                </a:solidFill>
                <a:latin typeface="Arial"/>
              </a:rPr>
              <a:t>seq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69080" y="3822191"/>
            <a:ext cx="32004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89120" y="35204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BEBE9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35204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Arial"/>
              </a:rPr>
              <a:t>seq 2 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3822191"/>
            <a:ext cx="32004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72200" y="35204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905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5204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B7791F"/>
                </a:solidFill>
                <a:latin typeface="Arial"/>
              </a:rPr>
              <a:t>seq 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3822191"/>
            <a:ext cx="32004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955279" y="35204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905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9" y="35204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B7791F"/>
                </a:solidFill>
                <a:latin typeface="Arial"/>
              </a:rPr>
              <a:t>seq 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19" y="3822191"/>
            <a:ext cx="32004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38360" y="35204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905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35204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B7791F"/>
                </a:solidFill>
                <a:latin typeface="Arial"/>
              </a:rPr>
              <a:t>seq 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30368" y="3200400"/>
            <a:ext cx="2743200" cy="45720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32004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Arial"/>
              </a:rPr>
              <a:t>↑ first failed sequence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4526280"/>
            <a:ext cx="10515600" cy="1417320"/>
          </a:xfrm>
          <a:prstGeom prst="roundRect">
            <a:avLst>
              <a:gd name="adj" fmla="val 8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46634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0">
                <a:solidFill>
                  <a:srgbClr val="1A1A2E"/>
                </a:solidFill>
                <a:latin typeface="Arial"/>
              </a:rPr>
              <a:t>The verifier names the </a:t>
            </a:r>
            <a:r>
              <a:rPr sz="1500" b="1">
                <a:solidFill>
                  <a:srgbClr val="C0392B"/>
                </a:solidFill>
                <a:latin typeface="Arial"/>
              </a:rPr>
              <a:t>exact first failed sequence</a:t>
            </a:r>
            <a:r>
              <a:rPr sz="1500" b="0">
                <a:solidFill>
                  <a:srgbClr val="1A1A2E"/>
                </a:solidFill>
                <a:latin typeface="Arial"/>
              </a:rPr>
              <a:t> — not “something is wrong.”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0">
                <a:solidFill>
                  <a:srgbClr val="1A1A2E"/>
                </a:solidFill>
                <a:latin typeface="Arial"/>
              </a:rPr>
              <a:t>Everything after it is </a:t>
            </a:r>
            <a:r>
              <a:rPr sz="1500" b="1">
                <a:solidFill>
                  <a:srgbClr val="C0392B"/>
                </a:solidFill>
                <a:latin typeface="Arial"/>
              </a:rPr>
              <a:t>invalidated</a:t>
            </a:r>
            <a:r>
              <a:rPr sz="1500" b="0">
                <a:solidFill>
                  <a:srgbClr val="1A1A2E"/>
                </a:solidFill>
                <a:latin typeface="Arial"/>
              </a:rPr>
              <a:t> — the signature covered a chain that no longer exists.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0">
                <a:solidFill>
                  <a:srgbClr val="1A1A2E"/>
                </a:solidFill>
                <a:latin typeface="Arial"/>
              </a:rPr>
              <a:t>Even in failure, integrity and </a:t>
            </a:r>
            <a:r>
              <a:rPr sz="1500" b="1">
                <a:solidFill>
                  <a:srgbClr val="1A4D8F"/>
                </a:solidFill>
                <a:latin typeface="Arial"/>
              </a:rPr>
              <a:t>correctness stay separate</a:t>
            </a:r>
            <a:r>
              <a:rPr sz="1500" b="0">
                <a:solidFill>
                  <a:srgbClr val="1A1A2E"/>
                </a:solidFill>
                <a:latin typeface="Arial"/>
              </a:rPr>
              <a:t> — it never says the conclusion was right.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Shadow · Capstone I · Alex Ji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A4D8F"/>
                </a:solidFill>
                <a:latin typeface="Arial"/>
              </a:rPr>
              <a:t>VERIFY THE VERIFIER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1A1A2E"/>
                </a:solidFill>
                <a:latin typeface="Arial"/>
              </a:rPr>
              <a:t>Can you trust the verifier page itself?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89320" y="1828800"/>
            <a:ext cx="5486400" cy="3566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D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07-verify-the-verifie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920240"/>
            <a:ext cx="5303520" cy="34431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89320" y="53949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8A8A99"/>
                </a:solidFill>
                <a:latin typeface="Arial"/>
              </a:rPr>
              <a:t>Real render — Verify-the-Verifier (fixture manifest)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82296" cy="960120"/>
          </a:xfrm>
          <a:prstGeom prst="rect">
            <a:avLst/>
          </a:prstGeom>
          <a:solidFill>
            <a:srgbClr val="0A7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4663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A1A2E"/>
                </a:solidFill>
                <a:latin typeface="Arial"/>
              </a:rPr>
              <a:t>It carries a signed fixture manifest — </a:t>
            </a:r>
            <a:r>
              <a:rPr sz="1350" b="1">
                <a:solidFill>
                  <a:srgbClr val="0A7D43"/>
                </a:solidFill>
                <a:latin typeface="Arial"/>
              </a:rPr>
              <a:t>ASSETS MATCH SIGNED MANIFEST</a:t>
            </a:r>
            <a:r>
              <a:rPr sz="1350" b="0">
                <a:solidFill>
                  <a:srgbClr val="1A1A2E"/>
                </a:solidFill>
                <a:latin typeface="Arial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82296" cy="96012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54680"/>
            <a:ext cx="4663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A1A2E"/>
                </a:solidFill>
                <a:latin typeface="Arial"/>
              </a:rPr>
              <a:t>Real trust needs an out-of-band check: asset hashes vs. a manifest from a separate channel, and the release-key fingerprint compared independently — </a:t>
            </a:r>
            <a:r>
              <a:rPr sz="1350" b="1">
                <a:solidFill>
                  <a:srgbClr val="B7791F"/>
                </a:solidFill>
                <a:latin typeface="Arial"/>
              </a:rPr>
              <a:t>INDEPENDENT COMPARISON NOT PERFORMED</a:t>
            </a:r>
            <a:r>
              <a:rPr sz="1350" b="0">
                <a:solidFill>
                  <a:srgbClr val="1A1A2E"/>
                </a:solidFill>
                <a:latin typeface="Arial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97680"/>
            <a:ext cx="82296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97680"/>
            <a:ext cx="4663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A1A2E"/>
                </a:solidFill>
                <a:latin typeface="Arial"/>
              </a:rPr>
              <a:t>A page hashing itself is </a:t>
            </a:r>
            <a:r>
              <a:rPr sz="1350" b="1">
                <a:solidFill>
                  <a:srgbClr val="C0392B"/>
                </a:solidFill>
                <a:latin typeface="Arial"/>
              </a:rPr>
              <a:t>not trust</a:t>
            </a:r>
            <a:r>
              <a:rPr sz="1350" b="0">
                <a:solidFill>
                  <a:srgbClr val="1A1A2E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55556E"/>
                </a:solidFill>
                <a:latin typeface="Arial"/>
              </a:rPr>
              <a:t>Current signing is </a:t>
            </a:r>
            <a:r>
              <a:rPr sz="1300" b="1">
                <a:solidFill>
                  <a:srgbClr val="B7791F"/>
                </a:solidFill>
                <a:latin typeface="Arial"/>
              </a:rPr>
              <a:t>fixture, not production.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Shadow · Capstone I · Alex Ji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A4D8F"/>
                </a:solidFill>
                <a:latin typeface="Arial"/>
              </a:rPr>
              <a:t>THE SPATIAL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1A1A2E"/>
                </a:solidFill>
                <a:latin typeface="Arial"/>
              </a:rPr>
              <a:t>3D for sequence, provenance, and tamper replay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029200" cy="379476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5875">
            <a:solidFill>
              <a:srgbClr val="1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4805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A4D8F"/>
                </a:solidFill>
                <a:latin typeface="Arial"/>
              </a:rPr>
              <a:t>Unity Shadow Lens + Three.js replay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2E"/>
                </a:solidFill>
                <a:latin typeface="Arial"/>
              </a:rPr>
              <a:t>•  Three workspaces; provenance audit arc; Verify / Tamper / Reset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2E"/>
                </a:solidFill>
                <a:latin typeface="Arial"/>
              </a:rPr>
              <a:t>•  Head-directed focus (gaze hover)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2E"/>
                </a:solidFill>
                <a:latin typeface="Arial"/>
              </a:rPr>
              <a:t>•  A precise 2D fallback always remains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2E"/>
                </a:solidFill>
                <a:latin typeface="Arial"/>
              </a:rPr>
              <a:t>•  Android mock APK built — 24.4 MB, hashed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65960"/>
            <a:ext cx="5212080" cy="379476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6634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7791F"/>
                </a:solidFill>
                <a:latin typeface="Arial"/>
              </a:rPr>
              <a:t>Stated honestly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2E"/>
                </a:solidFill>
                <a:latin typeface="Arial"/>
              </a:rPr>
              <a:t>✗  NOT eye tracking — hover only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2E"/>
                </a:solidFill>
                <a:latin typeface="Arial"/>
              </a:rPr>
              <a:t>✗  No RGB capture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2E"/>
                </a:solidFill>
                <a:latin typeface="Arial"/>
              </a:rPr>
              <a:t>✗  No 6DoF on the mock build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2E"/>
                </a:solidFill>
                <a:latin typeface="Arial"/>
              </a:rPr>
              <a:t>○  Android APK is built, </a:t>
            </a:r>
            <a:r>
              <a:rPr sz="1400" b="1">
                <a:solidFill>
                  <a:srgbClr val="B7791F"/>
                </a:solidFill>
                <a:latin typeface="Arial"/>
              </a:rPr>
              <a:t>not device-validated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2E"/>
                </a:solidFill>
                <a:latin typeface="Arial"/>
              </a:rPr>
              <a:t>○  Beam Pro / XREAL validation pending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2E"/>
                </a:solidFill>
                <a:latin typeface="Arial"/>
              </a:rPr>
              <a:t>○  No user study yet — 3D benefit unproven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Shadow · Capstone I · Alex Ji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A4D8F"/>
                </a:solidFill>
                <a:latin typeface="Arial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1A1A2E"/>
                </a:solidFill>
                <a:latin typeface="Arial"/>
              </a:rPr>
              <a:t>What is real today, measured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5875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>
                <a:solidFill>
                  <a:srgbClr val="0A7D43"/>
                </a:solidFill>
                <a:latin typeface="Arial"/>
              </a:rPr>
              <a:t>1,824 / 1,827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Arial"/>
              </a:rPr>
              <a:t>host tests pass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Arial"/>
              </a:rPr>
              <a:t>(3 skipped · 0 failed)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9456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5875">
            <a:solidFill>
              <a:srgbClr val="1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46888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>
                <a:solidFill>
                  <a:srgbClr val="1A4D8F"/>
                </a:solidFill>
                <a:latin typeface="Arial"/>
              </a:rPr>
              <a:t>Chromium 149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0040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Arial"/>
              </a:rPr>
              <a:t>browser verifier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Arial"/>
              </a:rPr>
              <a:t>EN + 简体中文 · 0 external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>
                <a:solidFill>
                  <a:srgbClr val="B7791F"/>
                </a:solidFill>
                <a:latin typeface="Arial"/>
              </a:rPr>
              <a:t>24.4 MB APK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Arial"/>
              </a:rPr>
              <a:t>Android mock built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Arial"/>
              </a:rPr>
              <a:t>(not device-validated)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19456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F1F1EC"/>
          </a:solidFill>
          <a:ln w="15875">
            <a:solidFill>
              <a:srgbClr val="55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46888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>
                <a:solidFill>
                  <a:srgbClr val="55556E"/>
                </a:solidFill>
                <a:latin typeface="Arial"/>
              </a:rPr>
              <a:t>No user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20040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Arial"/>
              </a:rPr>
              <a:t>3D comprehension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Arial"/>
              </a:rPr>
              <a:t>not yet proven (RQ4)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55556E"/>
                </a:solidFill>
                <a:latin typeface="Arial"/>
              </a:rPr>
              <a:t>Browser acceptance run in real Chromium (Playwright): 8 flows, English + Simplified Chinese,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55556E"/>
                </a:solidFill>
                <a:latin typeface="Arial"/>
              </a:rPr>
              <a:t>CSP with 0 external requests / 0 violations, offline verification — real screenshots, not mock-ups.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Shadow · Capstone I · Alex Ji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A4D8F"/>
                </a:solidFill>
                <a:latin typeface="Arial"/>
              </a:rPr>
              <a:t>WHERE IT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1A1A2E"/>
                </a:solidFill>
                <a:latin typeface="Arial"/>
              </a:rPr>
              <a:t>Implemented now vs. Capstone 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5120640" cy="3749039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5875">
            <a:solidFill>
              <a:srgbClr val="0A7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A7D43"/>
                </a:solidFill>
                <a:latin typeface="Arial"/>
              </a:rPr>
              <a:t>IMPLEMENTED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0A7D43"/>
                </a:solidFill>
                <a:latin typeface="Arial"/>
              </a:rPr>
              <a:t>✓  </a:t>
            </a:r>
            <a:r>
              <a:rPr sz="1400" b="0">
                <a:solidFill>
                  <a:srgbClr val="1A1A2E"/>
                </a:solidFill>
                <a:latin typeface="Arial"/>
              </a:rPr>
              <a:t>Deterministic evidence + hash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644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0A7D43"/>
                </a:solidFill>
                <a:latin typeface="Arial"/>
              </a:rPr>
              <a:t>✓  </a:t>
            </a:r>
            <a:r>
              <a:rPr sz="1400" b="0">
                <a:solidFill>
                  <a:srgbClr val="1A1A2E"/>
                </a:solidFill>
                <a:latin typeface="Arial"/>
              </a:rPr>
              <a:t>Independent + offline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31336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0A7D43"/>
                </a:solidFill>
                <a:latin typeface="Arial"/>
              </a:rPr>
              <a:t>✓  </a:t>
            </a:r>
            <a:r>
              <a:rPr sz="1400" b="0">
                <a:solidFill>
                  <a:srgbClr val="1A1A2E"/>
                </a:solidFill>
                <a:latin typeface="Arial"/>
              </a:rPr>
              <a:t>Exact tamper localization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98264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0A7D43"/>
                </a:solidFill>
                <a:latin typeface="Arial"/>
              </a:rPr>
              <a:t>✓  </a:t>
            </a:r>
            <a:r>
              <a:rPr sz="1400" b="0">
                <a:solidFill>
                  <a:srgbClr val="1A1A2E"/>
                </a:solidFill>
                <a:latin typeface="Arial"/>
              </a:rPr>
              <a:t>Bilingual verifier (EN / zh-CN)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965192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0A7D43"/>
                </a:solidFill>
                <a:latin typeface="Arial"/>
              </a:rPr>
              <a:t>✓  </a:t>
            </a:r>
            <a:r>
              <a:rPr sz="1400" b="0">
                <a:solidFill>
                  <a:srgbClr val="1A1A2E"/>
                </a:solidFill>
                <a:latin typeface="Arial"/>
              </a:rPr>
              <a:t>Android mock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11680"/>
            <a:ext cx="5074920" cy="3749039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B7791F"/>
                </a:solidFill>
                <a:latin typeface="Arial"/>
              </a:rPr>
              <a:t>PENDING — CAPSTONE 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B7791F"/>
                </a:solidFill>
                <a:latin typeface="Arial"/>
              </a:rPr>
              <a:t>○  </a:t>
            </a:r>
            <a:r>
              <a:rPr sz="1400" b="0">
                <a:solidFill>
                  <a:srgbClr val="1A1A2E"/>
                </a:solidFill>
                <a:latin typeface="Arial"/>
              </a:rPr>
              <a:t>Beam Pro / XREAL device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644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B7791F"/>
                </a:solidFill>
                <a:latin typeface="Arial"/>
              </a:rPr>
              <a:t>○  </a:t>
            </a:r>
            <a:r>
              <a:rPr sz="1400" b="0">
                <a:solidFill>
                  <a:srgbClr val="1A1A2E"/>
                </a:solidFill>
                <a:latin typeface="Arial"/>
              </a:rPr>
              <a:t>Shared Unity / Three.js scene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31336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B7791F"/>
                </a:solidFill>
                <a:latin typeface="Arial"/>
              </a:rPr>
              <a:t>○  </a:t>
            </a:r>
            <a:r>
              <a:rPr sz="1400" b="0">
                <a:solidFill>
                  <a:srgbClr val="1A1A2E"/>
                </a:solidFill>
                <a:latin typeface="Arial"/>
              </a:rPr>
              <a:t>User study — does 3D actually help?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98264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B7791F"/>
                </a:solidFill>
                <a:latin typeface="Arial"/>
              </a:rPr>
              <a:t>○  </a:t>
            </a:r>
            <a:r>
              <a:rPr sz="1400" b="0">
                <a:solidFill>
                  <a:srgbClr val="1A1A2E"/>
                </a:solidFill>
                <a:latin typeface="Arial"/>
              </a:rPr>
              <a:t>Semantic audit of ingested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965192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B7791F"/>
                </a:solidFill>
                <a:latin typeface="Arial"/>
              </a:rPr>
              <a:t>○  </a:t>
            </a:r>
            <a:r>
              <a:rPr sz="1400" b="0">
                <a:solidFill>
                  <a:srgbClr val="1A1A2E"/>
                </a:solidFill>
                <a:latin typeface="Arial"/>
              </a:rPr>
              <a:t>Production signing · KMS / HSM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55556E"/>
                </a:solidFill>
                <a:latin typeface="Arial"/>
              </a:rPr>
              <a:t>Fixture-signed · device-pending · no correctness claim — stated plainly, not oversold.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Shadow · Capstone I · Alex Ji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8A99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9FB6D6"/>
                </a:solidFill>
                <a:latin typeface="Arial"/>
              </a:rPr>
              <a:t>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0">
                <a:solidFill>
                  <a:srgbClr val="E7ECF5"/>
                </a:solidFill>
                <a:latin typeface="Arial"/>
              </a:rPr>
              <a:t>Shadow does not ask the auditor to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0">
                <a:solidFill>
                  <a:srgbClr val="E7ECF5"/>
                </a:solidFill>
                <a:latin typeface="Arial"/>
              </a:rPr>
              <a:t>trust the AI’s answer.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It gives them evidence they can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independently verify.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892040"/>
            <a:ext cx="1828800" cy="4114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9FB6D6"/>
                </a:solidFill>
                <a:latin typeface="Arial"/>
              </a:rPr>
              <a:t>The sequence, the sources, the signature — and, if it was tampered with, the exact break.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6FD19A"/>
                </a:solidFill>
                <a:latin typeface="Arial"/>
              </a:rPr>
              <a:t>Integrity, not correctness.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8A9CBE"/>
                </a:solidFill>
                <a:latin typeface="Arial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