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Shadow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On-device AI council + audit chain for regulated banking workflows</a:t>
            </a:r>
            <a:br/>
            <a:br/>
            <a:r>
              <a:rPr/>
              <a:t>Alex Xiaoyu Ji · Yeshiva University · 2026-06-18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On-device AI council + audit chain for regulated banking workflows</a:t>
            </a:r>
          </a:p>
          <a:p>
            <a:pPr lvl="0"/>
            <a:r>
              <a:rPr/>
              <a:t>v1.0.0 tagged 2026-06-18</a:t>
            </a:r>
          </a:p>
          <a:p>
            <a:pPr lvl="0"/>
            <a:r>
              <a:rPr/>
              <a:t>Public reproducible </a:t>
            </a:r>
            <a:r>
              <a:rPr b="1"/>
              <a:t>Shadow Agentic Score: 87 ± 3 (n=6)</a:t>
            </a:r>
          </a:p>
          <a:p>
            <a:pPr lvl="0"/>
            <a:r>
              <a:rPr/>
              <a:t>140/140 tests · MIT · github.com/alex-jb/shadow-mentor</a:t>
            </a:r>
          </a:p>
          <a:p>
            <a:pPr lvl="0" indent="0" marL="0">
              <a:buNone/>
            </a:pPr>
            <a:r>
              <a:rPr/>
              <a:t>Pre-BR: 89 ± 3 (n=3) · Post-BR with Loredana’s thresholds: 86 ± 1 (n=3) </a:t>
            </a:r>
            <a:r>
              <a:rPr i="1"/>
              <a:t>Honest variance reported, no prompt tuning.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Regulated banking decisions need auditable AI, fast.</a:t>
            </a:r>
          </a:p>
          <a:p>
            <a:pPr lvl="0"/>
            <a:r>
              <a:rPr b="1"/>
              <a:t>EU AI Act Article 14</a:t>
            </a:r>
            <a:r>
              <a:rPr/>
              <a:t> — human-oversight obligations for high-risk credit-scoring AI effective </a:t>
            </a:r>
            <a:r>
              <a:rPr b="1"/>
              <a:t>2026-08-01</a:t>
            </a:r>
            <a:r>
              <a:rPr/>
              <a:t> (6 weeks away)</a:t>
            </a:r>
          </a:p>
          <a:p>
            <a:pPr lvl="0"/>
            <a:r>
              <a:rPr b="1"/>
              <a:t>ECOA / Reg B</a:t>
            </a:r>
            <a:r>
              <a:rPr/>
              <a:t> — CFPB 2024 guidance rejects template adverse-action phrases (“purchasing history” non-compliant)</a:t>
            </a:r>
          </a:p>
          <a:p>
            <a:pPr lvl="0"/>
            <a:r>
              <a:rPr b="1"/>
              <a:t>SR 11-7</a:t>
            </a:r>
            <a:r>
              <a:rPr/>
              <a:t> — model risk “effective challenge” + documented falsification tests</a:t>
            </a:r>
          </a:p>
          <a:p>
            <a:pPr lvl="0"/>
            <a:r>
              <a:rPr b="1"/>
              <a:t>OCC 2024 CRO survey + Oliver Wyman 2024</a:t>
            </a:r>
            <a:r>
              <a:rPr/>
              <a:t>: regulators measurably more demanding on contrarian-challenge evidence</a:t>
            </a:r>
          </a:p>
          <a:p>
            <a:pPr lvl="0" indent="0" marL="0">
              <a:buNone/>
            </a:pPr>
            <a:r>
              <a:rPr/>
              <a:t>Current 2D loan-decisioning dashboards are </a:t>
            </a:r>
            <a:r>
              <a:rPr i="1"/>
              <a:t>auditable but slow, opaque to the customer, and prone to compliance gaps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product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backend × 4 device clients × 5 persona packs × 4 scenarios = 20 cells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 packs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(compliance · quant · engineer · trader · advisor)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(LBO · Bloomberg · CDS · Internal policy)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 clients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(Desktop · Even G2 · Brilliant Frame · XReal Air 2 Ultra)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(Anthropic Claude Sonnet 4.6 · Zhipu GLM-5.2)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MCP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(Claude Desktop / Cursor / Zed)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┌──────────────────────────────────────────────┐
│ Analyst (loan officer / model risk / etc.)   │
└─────────────────────┬────────────────────────┘
                      │
   4 device clients ──┼──&gt; Vercel serverless backend
                      │
                      ▼
   ┌────────────────────────────────────────┐
   │ 5 persona packs × 4 scenarios = 20     │
   │ orallexa.risk typed tools (Lora BR)    │
   │ 3-voice LLM + 5-voice rule resolver    │
   │ SHA-256 hash-chain audit · Brier cal.  │
   └────────────────────────────────────────┘
                      │
                      ▼
   Reproducible benchmark report +
   per-cell variance + GitHub Release evidence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Shadow Agentic Capability Benchmark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HF “Is it agentic enough?”-inspired deterministic structural rubric</a:t>
            </a:r>
          </a:p>
          <a:p>
            <a:pPr lvl="0" indent="0" marL="0">
              <a:buNone/>
            </a:pPr>
            <a:r>
              <a:rPr/>
              <a:t>Pre-BR (v0.3.3, 3-term coverage on compliance × LBO):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88.7 ± 3.1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Post-BR (v0.3.4, 5-term + Loredana’s BR thresholds FICO/DTI/LTV wired):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86.0 ± 1.0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 × LBO anchor cell: pre 100 / 100 / 100 → post 92 / 86 / 92 (mean ~90)</a:t>
            </a:r>
          </a:p>
          <a:p>
            <a:pPr lvl="0" indent="0" marL="0">
              <a:buNone/>
            </a:pPr>
            <a:r>
              <a:rPr b="1"/>
              <a:t>Variance got tighter with harder rubric.</a:t>
            </a:r>
            <a:r>
              <a:rPr/>
              <a:t> All raw run reports persisted under </a:t>
            </a:r>
            <a:r>
              <a:rPr>
                <a:latin typeface="Courier"/>
              </a:rPr>
              <a:t>benchmark/history/</a:t>
            </a:r>
            <a:r>
              <a:rPr/>
              <a:t> — procurement reviewers audit central tendency themselves.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report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5-term rubric is </a:t>
            </a:r>
            <a:r>
              <a:rPr b="1"/>
              <a:t>harder than 3-term</a:t>
            </a:r>
            <a:r>
              <a:rPr/>
              <a:t> — Sonnet’s compliance voice anchors on policy + leverage, occasionally misses “DTI” or “FICO” verbatim</a:t>
            </a:r>
          </a:p>
          <a:p>
            <a:pPr lvl="0"/>
            <a:r>
              <a:rPr/>
              <a:t>We did </a:t>
            </a:r>
            <a:r>
              <a:rPr b="1"/>
              <a:t>not</a:t>
            </a:r>
            <a:r>
              <a:rPr/>
              <a:t> touch persona prompts to chase the lost 3 points</a:t>
            </a:r>
          </a:p>
          <a:p>
            <a:pPr lvl="0"/>
            <a:r>
              <a:rPr/>
              <a:t>We did </a:t>
            </a:r>
            <a:r>
              <a:rPr b="1"/>
              <a:t>not</a:t>
            </a:r>
            <a:r>
              <a:rPr/>
              <a:t> relax expected_terms back to 3-term</a:t>
            </a:r>
          </a:p>
          <a:p>
            <a:pPr lvl="0"/>
            <a:r>
              <a:rPr/>
              <a:t>This is what “discipline” looks like in a public benchmark</a:t>
            </a:r>
          </a:p>
          <a:p>
            <a:pPr lvl="0" indent="0" marL="0">
              <a:buNone/>
            </a:pPr>
            <a:r>
              <a:rPr/>
              <a:t>This is </a:t>
            </a:r>
            <a:r>
              <a:rPr b="1"/>
              <a:t>exactly the LLM-as-judge-gaming we set out to avoid.</a:t>
            </a:r>
            <a:r>
              <a:rPr/>
              <a:t> Bank procurement reviewers respect honest variance over inflated single-run scores.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Loredana’s ECC Mode A integration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Loredana Carmen Levitchi (Columbia PhD Applied Math/AI, Y.U. faculty) shipped the Mode A package 2026-06-17. All 5 integration items shipped: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orallexa.risk</a:t>
                      </a:r>
                      <a:r>
                        <a:rPr/>
                        <a:t> typed tool layer (VaR / ES / factor / beta / concentration / sector / correlation)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>
                          <a:latin typeface="Courier"/>
                        </a:rPr>
                        <a:t>lib/risk-tools/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5-voice verdict resolver (block &gt; escalate &gt; approve)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>
                          <a:latin typeface="Courier"/>
                        </a:rPr>
                        <a:t>lib/run-loan-council.js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/api/loan-council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 structured input schema with BR thresholds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>
                          <a:latin typeface="Courier"/>
                        </a:rPr>
                        <a:t>lib/schemas/loan.js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Device-agnostic spatial AR rendering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Quest 3S dropped, XReal Air 2 Ultra + Flow Immersive paired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 thresholds wired into benchmark + rerun + variance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post-BR 86 ± 1 (n=3) shipped tonight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endpoints +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HTTP</a:t>
            </a:r>
            <a:r>
              <a:rPr/>
              <a:t>: - </a:t>
            </a:r>
            <a:r>
              <a:rPr>
                <a:latin typeface="Courier"/>
              </a:rPr>
              <a:t>POST /api/deliberate</a:t>
            </a:r>
            <a:r>
              <a:rPr/>
              <a:t> — 3-voice LLM + Haiku follow-up (+verdict when </a:t>
            </a:r>
            <a:r>
              <a:rPr>
                <a:latin typeface="Courier"/>
              </a:rPr>
              <a:t>loan</a:t>
            </a:r>
            <a:r>
              <a:rPr/>
              <a:t> body provided) - </a:t>
            </a:r>
            <a:r>
              <a:rPr>
                <a:latin typeface="Courier"/>
              </a:rPr>
              <a:t>POST /api/loan-council</a:t>
            </a:r>
            <a:r>
              <a:rPr/>
              <a:t> — pure compute 5-voice rule layer - </a:t>
            </a:r>
            <a:r>
              <a:rPr>
                <a:latin typeface="Courier"/>
              </a:rPr>
              <a:t>GET /api/recall · /api/calibration · /api/scenarios · /api/health · /api/badge · /api/version</a:t>
            </a:r>
          </a:p>
          <a:p>
            <a:pPr lvl="0" indent="0" marL="0">
              <a:buNone/>
            </a:pPr>
            <a:r>
              <a:rPr b="1"/>
              <a:t>MCP</a:t>
            </a:r>
            <a:r>
              <a:rPr/>
              <a:t> (</a:t>
            </a:r>
            <a:r>
              <a:rPr>
                <a:latin typeface="Courier"/>
              </a:rPr>
              <a:t>node mcp/server.js</a:t>
            </a:r>
            <a:r>
              <a:rPr/>
              <a:t>): - </a:t>
            </a:r>
            <a:r>
              <a:rPr>
                <a:latin typeface="Courier"/>
              </a:rPr>
              <a:t>shadow_loan_council · shadow_risk_tools · shadow_recall · shadow_calibration · shadow_scenarios</a:t>
            </a:r>
            <a:r>
              <a:rPr/>
              <a:t> - Drops into Claude Desktop / Cursor / Zed via 5-line config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 engine (annual subscription)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$120K / year</a:t>
                      </a:r>
                      <a:r>
                        <a:rPr/>
                        <a:t> per bank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persona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$1,800 / seat /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 / Data Scientist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$2,400 / seat /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Engineer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$1,500 / seat /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Trader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$2,400 / seat /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Wealth Advisor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 / seat / year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Mid-tier bank ACV (50 seats avg): ~$982K</a:t>
            </a:r>
          </a:p>
          <a:p>
            <a:pPr lvl="0" indent="0" marL="0">
              <a:buNone/>
            </a:pPr>
            <a:r>
              <a:rPr/>
              <a:t>3-year SOM across 5 mid-tier banks: $4.9M ARR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Beachhead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First-year analyst at $5B-$50B AUM regional wealth-mgmt or boutique IB, first 90 days, on firm-issued MacBook Pro, working with Excel + CRM + research portal.</a:t>
            </a:r>
          </a:p>
          <a:p>
            <a:pPr lvl="0" indent="0" marL="0">
              <a:buNone/>
            </a:pPr>
            <a:r>
              <a:rPr/>
              <a:t>Target firms in order:</a:t>
            </a:r>
          </a:p>
          <a:p>
            <a:pPr lvl="0" indent="0" marL="0">
              <a:buNone/>
            </a:pPr>
            <a:r>
              <a:rPr/>
              <a:t>Raymond James · Edward Jones · Stifel · LPL Financial · Houlihan Lokey · Lazard MM · William Blair · Jefferies · Alvarez &amp; Marsal · FTI · regional banks $5B-$50B AUM</a:t>
            </a:r>
          </a:p>
          <a:p>
            <a:pPr lvl="0" indent="0" marL="0">
              <a:buNone/>
            </a:pPr>
            <a:r>
              <a:rPr b="1"/>
              <a:t>Explicitly not Goldman / JPM / Citi</a:t>
            </a:r>
            <a:r>
              <a:rPr/>
              <a:t> — they will build it internally (60%+ AI adoption already).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+ escape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Biggest risk</a:t>
            </a:r>
            <a:r>
              <a:rPr/>
              <a:t>: JPMorgan / Goldman / Citi extend their internal LLM Suites to do role-specific scaffolding themselves in 2026-2027.</a:t>
            </a:r>
          </a:p>
          <a:p>
            <a:pPr lvl="0" indent="0" marL="0">
              <a:buNone/>
            </a:pPr>
            <a:r>
              <a:rPr b="1"/>
              <a:t>Escape hatch</a:t>
            </a:r>
            <a:r>
              <a:rPr/>
              <a:t>: Never sell into Top 10. Land at mid-tier where no engineering bench exists.</a:t>
            </a:r>
          </a:p>
          <a:p>
            <a:pPr lvl="0" indent="0" marL="0">
              <a:buNone/>
            </a:pPr>
            <a:r>
              <a:rPr b="1"/>
              <a:t>Secondary moat</a:t>
            </a:r>
            <a:r>
              <a:rPr/>
              <a:t>: bilingual EN / 中文 ship discipline opens China-side mid-tier banks (CITIC / Haitong / HuaTai analyst classes) as secondary market.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Procurement evidence (all public, all reproducible)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code (MIT)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github.com/alex-jb/shadow-mentor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v1.0.0 GitHub Release + benchmark tarball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/releases/tag/v1.0.0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 history (pre-BR + post-BR + SUMMARY)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/benchmark/history/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endpoints API 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/docs/api-reference.md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Bilingual README (EN + 中文)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/README.md + /README.zh-CN.md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CONTRIBUTING + SECURITY + COC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llms.txt + robots.txt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 consecutive green CI commits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Actions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90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Q3 2026</a:t>
            </a:r>
            <a:r>
              <a:rPr/>
              <a:t> native macOS POC (ScreenCaptureKit + on-device Phi-4-mini)</a:t>
            </a:r>
          </a:p>
          <a:p>
            <a:pPr lvl="0"/>
            <a:r>
              <a:rPr b="1"/>
              <a:t>July 2026</a:t>
            </a:r>
            <a:r>
              <a:rPr/>
              <a:t> 30-target cold email round to mid-tier firms</a:t>
            </a:r>
          </a:p>
          <a:p>
            <a:pPr lvl="0"/>
            <a:r>
              <a:rPr b="1"/>
              <a:t>August 2026</a:t>
            </a:r>
            <a:r>
              <a:rPr/>
              <a:t> Yeshiva Dean / Vice-Provost executive demo via XReal + Flow Immersive</a:t>
            </a:r>
          </a:p>
          <a:p>
            <a:pPr lvl="0"/>
            <a:r>
              <a:rPr b="1"/>
              <a:t>August 2026</a:t>
            </a:r>
            <a:r>
              <a:rPr/>
              <a:t> SOC 2 Type 1 readiness checklist</a:t>
            </a:r>
          </a:p>
          <a:p>
            <a:pPr lvl="0"/>
            <a:r>
              <a:rPr b="1"/>
              <a:t>Q4 2026</a:t>
            </a:r>
            <a:r>
              <a:rPr/>
              <a:t> First paid pilot ($120K engine + 50-seat compliance pack)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committee / procurement / VC reviewer:</a:t>
            </a:r>
          </a:p>
          <a:p>
            <a:pPr lvl="0" indent="-342900" marL="342900">
              <a:buAutoNum type="arabicPeriod"/>
            </a:pPr>
            <a:r>
              <a:rPr/>
              <a:t>Audit the benchmark yourself — </a:t>
            </a:r>
            <a:r>
              <a:rPr>
                <a:latin typeface="Courier"/>
              </a:rPr>
              <a:t>node benchmark/runner.js</a:t>
            </a:r>
            <a:r>
              <a:rPr/>
              <a:t> against your </a:t>
            </a:r>
            <a:r>
              <a:rPr>
                <a:latin typeface="Courier"/>
              </a:rPr>
              <a:t>ANTHROPIC_API_KEY</a:t>
            </a:r>
          </a:p>
          <a:p>
            <a:pPr lvl="0" indent="-342900" marL="342900">
              <a:buAutoNum type="arabicPeriod"/>
            </a:pPr>
            <a:r>
              <a:rPr/>
              <a:t>Try the MCP server in Claude Desktop — 5-tool surface, no setup</a:t>
            </a:r>
          </a:p>
          <a:p>
            <a:pPr lvl="0" indent="-342900" marL="342900">
              <a:buAutoNum type="arabicPeriod"/>
            </a:pPr>
            <a:r>
              <a:rPr/>
              <a:t>Compare honest variance reporting vs other AI banking products’ single-run claims</a:t>
            </a:r>
          </a:p>
          <a:p>
            <a:pPr lvl="0" indent="-342900" marL="342900">
              <a:buAutoNum type="arabicPeriod"/>
            </a:pPr>
            <a:r>
              <a:rPr/>
              <a:t>Meet for the mid-July XReal + Flow demo</a:t>
            </a:r>
          </a:p>
          <a:p>
            <a:pPr lvl="0" indent="0" marL="0">
              <a:buNone/>
            </a:pPr>
            <a:r>
              <a:rPr b="1"/>
              <a:t>Alex Xiaoyu Ji · xji1@mail.yu.edu · (347) 996-7886 · github.com/alex-jb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</dc:title>
  <dc:creator>Alex Xiaoyu Ji · Yeshiva University · 2026-06-18</dc:creator>
  <cp:keywords/>
  <dcterms:created xsi:type="dcterms:W3CDTF">2026-06-19T02:40:26Z</dcterms:created>
  <dcterms:modified xsi:type="dcterms:W3CDTF">2026-06-19T02:40:26Z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On-device AI council + audit chain for regulated banking workflows</vt:lpwstr>
  </property>
</Properties>
</file>